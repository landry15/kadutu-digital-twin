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98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97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68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33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95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97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89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00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39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483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50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75FF3-287D-4EF3-90BA-1F7B57D98EBD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8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607C-BAA5-495A-B8E9-C0BC60570B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6000" dirty="0"/>
              <a:t>PROJET TUTORE BAC 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D6C0047-9F07-4BDB-BFDC-F8D250CD78CB}"/>
              </a:ext>
            </a:extLst>
          </p:cNvPr>
          <p:cNvSpPr txBox="1">
            <a:spLocks/>
          </p:cNvSpPr>
          <p:nvPr/>
        </p:nvSpPr>
        <p:spPr>
          <a:xfrm>
            <a:off x="1676400" y="358818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Jumelle digitale avec IA pour optimiser le déploiement et la maintenance du réseau de fourniture d'eau potable de la ville de Bukavu.</a:t>
            </a:r>
            <a:endParaRPr lang="fr-FR" sz="18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BFF6293-53B2-4376-9441-1F2D93B1B9DB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1892566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A241-3398-4AC8-B9E4-7D17BA85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Fonctionnement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83032-45AA-4822-800E-D1E600267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fr-FR" b="1" dirty="0"/>
              <a:t>Collecte des données</a:t>
            </a:r>
            <a:br>
              <a:rPr lang="fr-FR" dirty="0"/>
            </a:br>
            <a:r>
              <a:rPr lang="fr-FR" dirty="0"/>
              <a:t>Des capteurs placés dans le réseau mesurent la pression, le débit, la qualité de l’eau et les fuites.</a:t>
            </a:r>
            <a:endParaRPr lang="fr-FR" sz="2400" dirty="0"/>
          </a:p>
          <a:p>
            <a:pPr lvl="0"/>
            <a:r>
              <a:rPr lang="fr-FR" b="1" dirty="0"/>
              <a:t>Modélisation numérique</a:t>
            </a:r>
            <a:br>
              <a:rPr lang="fr-FR" dirty="0"/>
            </a:br>
            <a:r>
              <a:rPr lang="fr-FR" dirty="0"/>
              <a:t>Toutes ces informations sont intégrées dans une plateforme informatique qui reproduit virtuellement le réseau d’eau de la ville.</a:t>
            </a:r>
            <a:endParaRPr lang="fr-FR" sz="2400" dirty="0"/>
          </a:p>
          <a:p>
            <a:pPr lvl="0"/>
            <a:r>
              <a:rPr lang="fr-FR" b="1" dirty="0"/>
              <a:t>Analyse par l’IA</a:t>
            </a:r>
            <a:br>
              <a:rPr lang="fr-FR" dirty="0"/>
            </a:br>
            <a:r>
              <a:rPr lang="fr-FR" dirty="0"/>
              <a:t>L’intelligence artificielle analyse les données pour :</a:t>
            </a:r>
            <a:endParaRPr lang="fr-FR" sz="2400" dirty="0"/>
          </a:p>
          <a:p>
            <a:pPr lvl="1"/>
            <a:r>
              <a:rPr lang="fr-FR" dirty="0"/>
              <a:t>Détecter les fuites ou anomalies</a:t>
            </a:r>
            <a:endParaRPr lang="fr-FR" sz="2000" dirty="0"/>
          </a:p>
          <a:p>
            <a:pPr lvl="1"/>
            <a:r>
              <a:rPr lang="fr-FR" dirty="0"/>
              <a:t>Prévoir les pannes</a:t>
            </a:r>
            <a:endParaRPr lang="fr-FR" sz="2000" dirty="0"/>
          </a:p>
          <a:p>
            <a:pPr lvl="1"/>
            <a:r>
              <a:rPr lang="fr-FR" dirty="0"/>
              <a:t>Optimiser la distribution de l’eau.</a:t>
            </a:r>
            <a:endParaRPr lang="fr-FR" sz="2000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533E701-CB32-4E38-8A96-53604CE6EFC1}"/>
              </a:ext>
            </a:extLst>
          </p:cNvPr>
          <p:cNvSpPr txBox="1">
            <a:spLocks/>
          </p:cNvSpPr>
          <p:nvPr/>
        </p:nvSpPr>
        <p:spPr>
          <a:xfrm>
            <a:off x="1524000" y="6333832"/>
            <a:ext cx="8442036" cy="3254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  <a:endParaRPr lang="fr-FR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37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0A13-C4F5-41C7-AC52-04832FDE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Avantages pour la ville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1CF48-765E-40D1-BA01-ED01EC240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dirty="0"/>
              <a:t>Réduction des pertes d’eau</a:t>
            </a:r>
            <a:r>
              <a:rPr lang="fr-FR" dirty="0"/>
              <a:t> grâce à la détection rapide des fuites.</a:t>
            </a:r>
          </a:p>
          <a:p>
            <a:pPr lvl="0"/>
            <a:r>
              <a:rPr lang="fr-FR" b="1" dirty="0"/>
              <a:t>Maintenance prédictive</a:t>
            </a:r>
            <a:r>
              <a:rPr lang="fr-FR" dirty="0"/>
              <a:t> : réparer avant qu’une panne ne se produise.</a:t>
            </a:r>
          </a:p>
          <a:p>
            <a:pPr lvl="0"/>
            <a:r>
              <a:rPr lang="fr-FR" b="1" dirty="0"/>
              <a:t>Meilleure planification du réseau</a:t>
            </a:r>
            <a:r>
              <a:rPr lang="fr-FR" dirty="0"/>
              <a:t> pour les nouveaux quartiers.</a:t>
            </a:r>
          </a:p>
          <a:p>
            <a:pPr lvl="0"/>
            <a:r>
              <a:rPr lang="fr-FR" b="1" dirty="0"/>
              <a:t>Amélioration de l’accès à l’eau potable</a:t>
            </a:r>
            <a:r>
              <a:rPr lang="fr-FR" dirty="0"/>
              <a:t> pour la population.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E7C7E0F-59EF-4AC0-A094-928B76DA01B4}"/>
              </a:ext>
            </a:extLst>
          </p:cNvPr>
          <p:cNvSpPr txBox="1">
            <a:spLocks/>
          </p:cNvSpPr>
          <p:nvPr/>
        </p:nvSpPr>
        <p:spPr>
          <a:xfrm>
            <a:off x="1524000" y="6333832"/>
            <a:ext cx="8442036" cy="3254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  <a:endParaRPr lang="fr-FR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0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217A-5391-4F8D-83DF-AEE90D39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1. Collecte des données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78D00-BEE6-4EE4-B46B-E24F4D6B4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b="1" i="1" dirty="0"/>
              <a:t>1. Données provenant des capteurs</a:t>
            </a:r>
          </a:p>
          <a:p>
            <a:r>
              <a:rPr lang="fr-FR" dirty="0"/>
              <a:t>Des </a:t>
            </a:r>
            <a:r>
              <a:rPr lang="fr-FR" b="1" dirty="0"/>
              <a:t>capteurs intelligents</a:t>
            </a:r>
            <a:r>
              <a:rPr lang="fr-FR" dirty="0"/>
              <a:t> peuvent être installés dans différentes parties du réseau d’eau (tuyaux, réservoirs, stations de pompage). Ces capteurs permettent de mesurer plusieurs paramètres importants, notamment :</a:t>
            </a:r>
          </a:p>
          <a:p>
            <a:pPr lvl="0"/>
            <a:r>
              <a:rPr lang="fr-FR" b="1" dirty="0"/>
              <a:t>Le débit de l’eau</a:t>
            </a:r>
            <a:r>
              <a:rPr lang="fr-FR" dirty="0"/>
              <a:t> dans les conduites</a:t>
            </a:r>
          </a:p>
          <a:p>
            <a:pPr lvl="0"/>
            <a:r>
              <a:rPr lang="fr-FR" b="1" dirty="0"/>
              <a:t>La pression de l’eau</a:t>
            </a:r>
            <a:r>
              <a:rPr lang="fr-FR" dirty="0"/>
              <a:t> dans le réseau</a:t>
            </a:r>
          </a:p>
          <a:p>
            <a:pPr lvl="0"/>
            <a:r>
              <a:rPr lang="fr-FR" b="1" dirty="0"/>
              <a:t>La qualité de l’eau</a:t>
            </a:r>
            <a:r>
              <a:rPr lang="fr-FR" dirty="0"/>
              <a:t> (température, pH, turbidité)</a:t>
            </a:r>
          </a:p>
          <a:p>
            <a:pPr lvl="0"/>
            <a:r>
              <a:rPr lang="fr-FR" b="1" dirty="0"/>
              <a:t>La détection des fuites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Ces informations sont collectées </a:t>
            </a:r>
            <a:r>
              <a:rPr lang="fr-FR" b="1" dirty="0"/>
              <a:t>en temps réel</a:t>
            </a:r>
            <a:r>
              <a:rPr lang="fr-FR" dirty="0"/>
              <a:t> et envoyées vers une plateforme informatique.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AEA8769-96E5-48C4-9AFC-5EA7AF29E965}"/>
              </a:ext>
            </a:extLst>
          </p:cNvPr>
          <p:cNvSpPr txBox="1">
            <a:spLocks/>
          </p:cNvSpPr>
          <p:nvPr/>
        </p:nvSpPr>
        <p:spPr>
          <a:xfrm>
            <a:off x="1524000" y="6333832"/>
            <a:ext cx="8442036" cy="3254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  <a:endParaRPr lang="fr-FR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6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D5CD9-9C27-4EA8-BA0E-8F80B224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1. Collecte des données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AFF4B-9FDE-4765-9CD4-CBE214C67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b="1" i="1" dirty="0"/>
              <a:t>2. Données géographiques du réseau</a:t>
            </a:r>
          </a:p>
          <a:p>
            <a:r>
              <a:rPr lang="fr-FR" dirty="0"/>
              <a:t>Il est également nécessaire de collecter les </a:t>
            </a:r>
            <a:r>
              <a:rPr lang="fr-FR" b="1" dirty="0"/>
              <a:t>données cartographiques et techniques</a:t>
            </a:r>
            <a:r>
              <a:rPr lang="fr-FR" dirty="0"/>
              <a:t> du réseau, telles que :</a:t>
            </a:r>
          </a:p>
          <a:p>
            <a:pPr lvl="0"/>
            <a:r>
              <a:rPr lang="fr-FR" dirty="0"/>
              <a:t>l’emplacement des conduites d’eau</a:t>
            </a:r>
          </a:p>
          <a:p>
            <a:pPr lvl="0"/>
            <a:r>
              <a:rPr lang="fr-FR" dirty="0"/>
              <a:t>les stations de pompage</a:t>
            </a:r>
          </a:p>
          <a:p>
            <a:pPr lvl="0"/>
            <a:r>
              <a:rPr lang="fr-FR" dirty="0"/>
              <a:t>les réservoirs de stockage</a:t>
            </a:r>
          </a:p>
          <a:p>
            <a:pPr lvl="0"/>
            <a:r>
              <a:rPr lang="fr-FR" dirty="0"/>
              <a:t>les bornes fontaines</a:t>
            </a:r>
          </a:p>
          <a:p>
            <a:pPr lvl="0"/>
            <a:r>
              <a:rPr lang="fr-FR" dirty="0"/>
              <a:t>les quartiers desservis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Ces données permettent de </a:t>
            </a:r>
            <a:r>
              <a:rPr lang="fr-FR" b="1" dirty="0"/>
              <a:t>représenter le réseau sur une carte numérique</a:t>
            </a:r>
            <a:r>
              <a:rPr lang="fr-FR" dirty="0"/>
              <a:t>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444580-AC46-4981-9C43-AF28118511C3}"/>
              </a:ext>
            </a:extLst>
          </p:cNvPr>
          <p:cNvSpPr txBox="1">
            <a:spLocks/>
          </p:cNvSpPr>
          <p:nvPr/>
        </p:nvSpPr>
        <p:spPr>
          <a:xfrm>
            <a:off x="1524000" y="6333832"/>
            <a:ext cx="8442036" cy="3254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  <a:endParaRPr lang="fr-FR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04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7FF1-9933-46B0-8A7C-C2616F5B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1. Collecte des données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7E09A-FF64-4ADB-BCD1-4E7BF3546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i="1" dirty="0"/>
              <a:t>3. Données historiques</a:t>
            </a:r>
          </a:p>
          <a:p>
            <a:r>
              <a:rPr lang="fr-FR" dirty="0"/>
              <a:t>Les données historiques comprennent :</a:t>
            </a:r>
          </a:p>
          <a:p>
            <a:pPr lvl="0"/>
            <a:r>
              <a:rPr lang="fr-FR" dirty="0"/>
              <a:t>les anciennes pannes</a:t>
            </a:r>
          </a:p>
          <a:p>
            <a:pPr lvl="0"/>
            <a:r>
              <a:rPr lang="fr-FR" dirty="0"/>
              <a:t>les réparations effectuées</a:t>
            </a:r>
          </a:p>
          <a:p>
            <a:pPr lvl="0"/>
            <a:r>
              <a:rPr lang="fr-FR" dirty="0"/>
              <a:t>les interruptions de service</a:t>
            </a:r>
          </a:p>
          <a:p>
            <a:pPr lvl="0"/>
            <a:r>
              <a:rPr lang="fr-FR" dirty="0"/>
              <a:t>la consommation d’eau dans les différents quartiers.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Ces informations permettent à l’</a:t>
            </a:r>
            <a:r>
              <a:rPr lang="fr-FR" b="1" dirty="0"/>
              <a:t>intelligence artificielle d’analyser les tendances et de prévoir les problèmes futurs</a:t>
            </a:r>
            <a:r>
              <a:rPr lang="fr-FR" dirty="0"/>
              <a:t>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9A4CA5C-D0D5-41D0-983C-BF6A37627FE2}"/>
              </a:ext>
            </a:extLst>
          </p:cNvPr>
          <p:cNvSpPr txBox="1">
            <a:spLocks/>
          </p:cNvSpPr>
          <p:nvPr/>
        </p:nvSpPr>
        <p:spPr>
          <a:xfrm>
            <a:off x="1524000" y="6333832"/>
            <a:ext cx="8442036" cy="3254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  <a:endParaRPr lang="fr-FR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38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1B1-D10B-4584-9080-CD691C65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1. Collecte des données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4AB7-6226-4B86-ADAC-EFA60DFD3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i="1" dirty="0"/>
              <a:t>4. Données environnementales</a:t>
            </a:r>
          </a:p>
          <a:p>
            <a:r>
              <a:rPr lang="fr-FR" dirty="0"/>
              <a:t>Certaines données externes peuvent aussi être utiles, comme :</a:t>
            </a:r>
          </a:p>
          <a:p>
            <a:pPr lvl="0"/>
            <a:r>
              <a:rPr lang="fr-FR" dirty="0"/>
              <a:t>la </a:t>
            </a:r>
            <a:r>
              <a:rPr lang="fr-FR" b="1" dirty="0"/>
              <a:t>météo (pluie, sécheresse)</a:t>
            </a:r>
            <a:endParaRPr lang="fr-FR" dirty="0"/>
          </a:p>
          <a:p>
            <a:pPr lvl="0"/>
            <a:r>
              <a:rPr lang="fr-FR" dirty="0"/>
              <a:t>la </a:t>
            </a:r>
            <a:r>
              <a:rPr lang="fr-FR" b="1" dirty="0"/>
              <a:t>croissance de la population</a:t>
            </a:r>
            <a:endParaRPr lang="fr-FR" dirty="0"/>
          </a:p>
          <a:p>
            <a:pPr lvl="0"/>
            <a:r>
              <a:rPr lang="fr-FR" dirty="0"/>
              <a:t>l’</a:t>
            </a:r>
            <a:r>
              <a:rPr lang="fr-FR" b="1" dirty="0"/>
              <a:t>expansion urbaine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Ces données aident à </a:t>
            </a:r>
            <a:r>
              <a:rPr lang="fr-FR" b="1" dirty="0"/>
              <a:t>anticiper les besoins futurs en eau potable</a:t>
            </a:r>
            <a:r>
              <a:rPr lang="fr-FR" dirty="0"/>
              <a:t>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20FF23-8637-4D6A-888C-1F9B9AABA8FC}"/>
              </a:ext>
            </a:extLst>
          </p:cNvPr>
          <p:cNvSpPr txBox="1">
            <a:spLocks/>
          </p:cNvSpPr>
          <p:nvPr/>
        </p:nvSpPr>
        <p:spPr>
          <a:xfrm>
            <a:off x="1524000" y="6333832"/>
            <a:ext cx="8442036" cy="3254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  <a:endParaRPr lang="fr-FR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393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F3976-2F1C-478C-B6EE-0B616FED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TYPES DES CAPETEURS A UTILISER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B28AC-AB5B-48F1-81C1-79B788992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091" y="1853754"/>
            <a:ext cx="10898909" cy="419972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b="1" dirty="0"/>
              <a:t>1. Capteurs de débit (Flow </a:t>
            </a:r>
            <a:r>
              <a:rPr lang="fr-FR" b="1" dirty="0" err="1"/>
              <a:t>sensors</a:t>
            </a:r>
            <a:r>
              <a:rPr lang="fr-FR" b="1" dirty="0"/>
              <a:t>)</a:t>
            </a:r>
          </a:p>
          <a:p>
            <a:pPr marL="0" indent="0">
              <a:buNone/>
            </a:pPr>
            <a:r>
              <a:rPr lang="fr-FR" b="1" dirty="0"/>
              <a:t>Rôle</a:t>
            </a:r>
          </a:p>
          <a:p>
            <a:r>
              <a:rPr lang="fr-FR" dirty="0"/>
              <a:t>Ils mesurent </a:t>
            </a:r>
            <a:r>
              <a:rPr lang="fr-FR" b="1" dirty="0"/>
              <a:t>la quantité d’eau qui circule dans les conduites</a:t>
            </a:r>
            <a:r>
              <a:rPr lang="fr-FR" dirty="0"/>
              <a:t> et à l’aide de l’AI on mesure la quantité de la source à la quantité qui circule voir si sa concorde, si non, on prévient les techniciens car il doit y avoir une fuite probablement.</a:t>
            </a:r>
          </a:p>
          <a:p>
            <a:pPr marL="0" indent="0">
              <a:buNone/>
            </a:pPr>
            <a:r>
              <a:rPr lang="fr-FR" b="1" dirty="0"/>
              <a:t>Spécificités</a:t>
            </a:r>
          </a:p>
          <a:p>
            <a:pPr lvl="0"/>
            <a:r>
              <a:rPr lang="fr-FR" dirty="0"/>
              <a:t>Mesure en </a:t>
            </a:r>
            <a:r>
              <a:rPr lang="fr-FR" b="1" dirty="0"/>
              <a:t>litres par seconde (L/s)</a:t>
            </a:r>
            <a:r>
              <a:rPr lang="fr-FR" dirty="0"/>
              <a:t> ou </a:t>
            </a:r>
            <a:r>
              <a:rPr lang="fr-FR" b="1" dirty="0"/>
              <a:t>m³/h</a:t>
            </a:r>
            <a:endParaRPr lang="fr-FR" dirty="0"/>
          </a:p>
          <a:p>
            <a:pPr lvl="0"/>
            <a:r>
              <a:rPr lang="fr-FR" dirty="0"/>
              <a:t>Installation dans les conduites principales</a:t>
            </a:r>
          </a:p>
          <a:p>
            <a:pPr lvl="0"/>
            <a:r>
              <a:rPr lang="fr-FR" dirty="0"/>
              <a:t>Permet de </a:t>
            </a:r>
            <a:r>
              <a:rPr lang="fr-FR" b="1" dirty="0"/>
              <a:t>détecter les anomalies de circulation de l’eau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Importance</a:t>
            </a:r>
          </a:p>
          <a:p>
            <a:r>
              <a:rPr lang="fr-FR" dirty="0"/>
              <a:t>Si le débit diminue ou augmente anormalement, cela peut indiquer :</a:t>
            </a:r>
          </a:p>
          <a:p>
            <a:pPr lvl="0"/>
            <a:r>
              <a:rPr lang="fr-FR" dirty="0"/>
              <a:t>une </a:t>
            </a:r>
            <a:r>
              <a:rPr lang="fr-FR" b="1" dirty="0"/>
              <a:t>fuite</a:t>
            </a:r>
            <a:endParaRPr lang="fr-FR" dirty="0"/>
          </a:p>
          <a:p>
            <a:pPr lvl="0"/>
            <a:r>
              <a:rPr lang="fr-FR" dirty="0"/>
              <a:t>un </a:t>
            </a:r>
            <a:r>
              <a:rPr lang="fr-FR" b="1" dirty="0"/>
              <a:t>blocage dans la conduite</a:t>
            </a:r>
            <a:endParaRPr lang="fr-FR" dirty="0"/>
          </a:p>
          <a:p>
            <a:pPr lvl="0"/>
            <a:r>
              <a:rPr lang="fr-FR" dirty="0"/>
              <a:t>une </a:t>
            </a:r>
            <a:r>
              <a:rPr lang="fr-FR" b="1" dirty="0"/>
              <a:t>consommation excessive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D6C9AB4-E14E-42DC-B02C-4C9497B9F9B4}"/>
              </a:ext>
            </a:extLst>
          </p:cNvPr>
          <p:cNvSpPr txBox="1">
            <a:spLocks/>
          </p:cNvSpPr>
          <p:nvPr/>
        </p:nvSpPr>
        <p:spPr>
          <a:xfrm>
            <a:off x="1524000" y="6333832"/>
            <a:ext cx="8442036" cy="3254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  <a:endParaRPr lang="fr-FR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122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0C373-1F6F-4ABC-B6C8-6EE59FB0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TYPES DES CAPETEURS A UTILISER</a:t>
            </a:r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7C1085-A7FB-46E9-BC08-0D0F686E5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764" y="1853754"/>
            <a:ext cx="10908144" cy="41129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dirty="0"/>
              <a:t>2. Capteurs de pression</a:t>
            </a:r>
          </a:p>
          <a:p>
            <a:pPr marL="0" indent="0">
              <a:buNone/>
            </a:pPr>
            <a:r>
              <a:rPr lang="fr-FR" b="1" dirty="0"/>
              <a:t>Rôle</a:t>
            </a:r>
          </a:p>
          <a:p>
            <a:r>
              <a:rPr lang="fr-FR" dirty="0"/>
              <a:t>Ils mesurent </a:t>
            </a:r>
            <a:r>
              <a:rPr lang="fr-FR" b="1" dirty="0"/>
              <a:t>la pression de l’eau dans les tuyaux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b="1" dirty="0"/>
              <a:t>Spécificités</a:t>
            </a:r>
          </a:p>
          <a:p>
            <a:pPr lvl="0"/>
            <a:r>
              <a:rPr lang="fr-FR" dirty="0"/>
              <a:t>Mesure en </a:t>
            </a:r>
            <a:r>
              <a:rPr lang="fr-FR" b="1" dirty="0"/>
              <a:t>bar ou en Pascal</a:t>
            </a:r>
            <a:endParaRPr lang="fr-FR" dirty="0"/>
          </a:p>
          <a:p>
            <a:pPr lvl="0"/>
            <a:r>
              <a:rPr lang="fr-FR" dirty="0"/>
              <a:t>Placés à différents points du réseau</a:t>
            </a:r>
          </a:p>
          <a:p>
            <a:pPr lvl="0"/>
            <a:r>
              <a:rPr lang="fr-FR" dirty="0"/>
              <a:t>Fonctionnent en </a:t>
            </a:r>
            <a:r>
              <a:rPr lang="fr-FR" b="1" dirty="0"/>
              <a:t>surveillance continue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Importance</a:t>
            </a:r>
          </a:p>
          <a:p>
            <a:r>
              <a:rPr lang="fr-FR" dirty="0"/>
              <a:t>Ils permettent de :</a:t>
            </a:r>
          </a:p>
          <a:p>
            <a:pPr lvl="0"/>
            <a:r>
              <a:rPr lang="fr-FR" dirty="0"/>
              <a:t>détecter les </a:t>
            </a:r>
            <a:r>
              <a:rPr lang="fr-FR" b="1" dirty="0"/>
              <a:t>ruptures de conduites</a:t>
            </a:r>
            <a:endParaRPr lang="fr-FR" dirty="0"/>
          </a:p>
          <a:p>
            <a:pPr lvl="0"/>
            <a:r>
              <a:rPr lang="fr-FR" dirty="0"/>
              <a:t>éviter les </a:t>
            </a:r>
            <a:r>
              <a:rPr lang="fr-FR" b="1" dirty="0"/>
              <a:t>surpressions qui peuvent casser les tuyaux</a:t>
            </a:r>
            <a:endParaRPr lang="fr-FR" dirty="0"/>
          </a:p>
          <a:p>
            <a:pPr lvl="0"/>
            <a:r>
              <a:rPr lang="fr-FR" dirty="0"/>
              <a:t>vérifier si l’eau arrive correctement dans les quartiers élevés.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9C24B6-0939-4CF5-8EA5-90DD65BBA66D}"/>
              </a:ext>
            </a:extLst>
          </p:cNvPr>
          <p:cNvSpPr txBox="1">
            <a:spLocks/>
          </p:cNvSpPr>
          <p:nvPr/>
        </p:nvSpPr>
        <p:spPr>
          <a:xfrm>
            <a:off x="1524000" y="6333832"/>
            <a:ext cx="8442036" cy="32543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  <a:endParaRPr lang="fr-FR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254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A9D75B-F8AA-431D-8C5D-591B0BD0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TYPES DES CAPETEURS A UTILISER</a:t>
            </a:r>
            <a:endParaRPr lang="fr-F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FEC176-53C0-4C29-96FF-146709E3E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109" y="1958109"/>
            <a:ext cx="11120582" cy="409537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FR" b="1" dirty="0"/>
              <a:t>3. Capteurs de qualité de l’eau</a:t>
            </a:r>
          </a:p>
          <a:p>
            <a:pPr marL="0" indent="0">
              <a:buNone/>
            </a:pPr>
            <a:r>
              <a:rPr lang="fr-FR" b="1" dirty="0"/>
              <a:t>Rôle</a:t>
            </a:r>
          </a:p>
          <a:p>
            <a:r>
              <a:rPr lang="fr-FR" dirty="0"/>
              <a:t>Ils surveillent </a:t>
            </a:r>
            <a:r>
              <a:rPr lang="fr-FR" b="1" dirty="0"/>
              <a:t>la qualité de l’eau distribuée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b="1" dirty="0"/>
              <a:t>Spécificités</a:t>
            </a:r>
          </a:p>
          <a:p>
            <a:r>
              <a:rPr lang="fr-FR" dirty="0"/>
              <a:t>Ils peuvent mesurer plusieurs paramètres :</a:t>
            </a:r>
          </a:p>
          <a:p>
            <a:pPr lvl="0"/>
            <a:r>
              <a:rPr lang="fr-FR" b="1" dirty="0"/>
              <a:t>pH</a:t>
            </a:r>
            <a:r>
              <a:rPr lang="fr-FR" dirty="0"/>
              <a:t> (acidité de l’eau)</a:t>
            </a:r>
          </a:p>
          <a:p>
            <a:pPr lvl="0"/>
            <a:r>
              <a:rPr lang="fr-FR" b="1" dirty="0"/>
              <a:t>Turbidité</a:t>
            </a:r>
            <a:r>
              <a:rPr lang="fr-FR" dirty="0"/>
              <a:t> (niveau de saleté ou particules dans l’eau)</a:t>
            </a:r>
          </a:p>
          <a:p>
            <a:pPr lvl="0"/>
            <a:r>
              <a:rPr lang="fr-FR" b="1" dirty="0"/>
              <a:t>Température de l’eau</a:t>
            </a:r>
            <a:endParaRPr lang="fr-FR" dirty="0"/>
          </a:p>
          <a:p>
            <a:pPr lvl="0"/>
            <a:r>
              <a:rPr lang="fr-FR" b="1" dirty="0"/>
              <a:t>Conductivité électrique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Importance</a:t>
            </a:r>
          </a:p>
          <a:p>
            <a:r>
              <a:rPr lang="fr-FR" dirty="0"/>
              <a:t>Ils permettent de :</a:t>
            </a:r>
          </a:p>
          <a:p>
            <a:pPr lvl="0"/>
            <a:r>
              <a:rPr lang="fr-FR" dirty="0"/>
              <a:t>garantir une </a:t>
            </a:r>
            <a:r>
              <a:rPr lang="fr-FR" b="1" dirty="0"/>
              <a:t>eau potable et sûre</a:t>
            </a:r>
            <a:endParaRPr lang="fr-FR" dirty="0"/>
          </a:p>
          <a:p>
            <a:pPr lvl="0"/>
            <a:r>
              <a:rPr lang="fr-FR" dirty="0"/>
              <a:t>détecter une </a:t>
            </a:r>
            <a:r>
              <a:rPr lang="fr-FR" b="1" dirty="0"/>
              <a:t>contamination du réseau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1139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723CEB4-DC72-4630-8CC4-49B002D3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TYPES DES CAPETEURS A UTILISER</a:t>
            </a:r>
            <a:endParaRPr lang="fr-F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EE81EB-E5D7-47F6-A89E-B2666694B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7" y="1958109"/>
            <a:ext cx="11453091" cy="409537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b="1" dirty="0"/>
              <a:t>4. Capteurs de niveau</a:t>
            </a:r>
          </a:p>
          <a:p>
            <a:pPr marL="0" indent="0">
              <a:buNone/>
            </a:pPr>
            <a:r>
              <a:rPr lang="fr-FR" b="1" dirty="0"/>
              <a:t>Rôle</a:t>
            </a:r>
          </a:p>
          <a:p>
            <a:r>
              <a:rPr lang="fr-FR" dirty="0"/>
              <a:t>Ils mesurent </a:t>
            </a:r>
            <a:r>
              <a:rPr lang="fr-FR" b="1" dirty="0"/>
              <a:t>le niveau d’eau dans les réservoirs et les châteaux d’eau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b="1" dirty="0"/>
              <a:t>Spécificités</a:t>
            </a:r>
          </a:p>
          <a:p>
            <a:pPr lvl="0"/>
            <a:r>
              <a:rPr lang="fr-FR" dirty="0"/>
              <a:t>Mesure en </a:t>
            </a:r>
            <a:r>
              <a:rPr lang="fr-FR" b="1" dirty="0"/>
              <a:t>mètres ou pourcentage de remplissage</a:t>
            </a:r>
            <a:endParaRPr lang="fr-FR" dirty="0"/>
          </a:p>
          <a:p>
            <a:pPr lvl="0"/>
            <a:r>
              <a:rPr lang="fr-FR" dirty="0"/>
              <a:t>Peut utiliser la technologie </a:t>
            </a:r>
            <a:r>
              <a:rPr lang="fr-FR" b="1" dirty="0"/>
              <a:t>ultrasonique ou radar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Importance</a:t>
            </a:r>
          </a:p>
          <a:p>
            <a:r>
              <a:rPr lang="fr-FR" dirty="0"/>
              <a:t>Ils permettent de :</a:t>
            </a:r>
          </a:p>
          <a:p>
            <a:pPr lvl="0"/>
            <a:r>
              <a:rPr lang="fr-FR" dirty="0"/>
              <a:t>éviter le </a:t>
            </a:r>
            <a:r>
              <a:rPr lang="fr-FR" b="1" dirty="0"/>
              <a:t>débordement des réservoirs</a:t>
            </a:r>
            <a:endParaRPr lang="fr-FR" dirty="0"/>
          </a:p>
          <a:p>
            <a:pPr lvl="0"/>
            <a:r>
              <a:rPr lang="fr-FR" dirty="0"/>
              <a:t>contrôler les </a:t>
            </a:r>
            <a:r>
              <a:rPr lang="fr-FR" b="1" dirty="0"/>
              <a:t>réserves d’eau disponibles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5038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69F6A9-D918-453D-9655-EFD5DFC8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TYPES DES CAPETEURS A UTILISER</a:t>
            </a:r>
            <a:endParaRPr lang="fr-F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B7B2C0-6B02-4EB4-902C-58FC804D1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7" y="1853754"/>
            <a:ext cx="11453091" cy="41997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/>
              <a:t>5. Capteurs de détection de fuites</a:t>
            </a:r>
          </a:p>
          <a:p>
            <a:pPr marL="0" indent="0">
              <a:buNone/>
            </a:pPr>
            <a:r>
              <a:rPr lang="fr-FR" b="1" dirty="0"/>
              <a:t>Rôle</a:t>
            </a:r>
          </a:p>
          <a:p>
            <a:r>
              <a:rPr lang="fr-FR" dirty="0"/>
              <a:t>Ils identifient </a:t>
            </a:r>
            <a:r>
              <a:rPr lang="fr-FR" b="1" dirty="0"/>
              <a:t>les fuites dans les conduites d’eau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b="1" dirty="0"/>
              <a:t>Spécificités</a:t>
            </a:r>
          </a:p>
          <a:p>
            <a:pPr lvl="0"/>
            <a:r>
              <a:rPr lang="fr-FR" dirty="0"/>
              <a:t>Utilisent souvent </a:t>
            </a:r>
            <a:r>
              <a:rPr lang="fr-FR" b="1" dirty="0"/>
              <a:t>des capteurs acoustiques</a:t>
            </a:r>
            <a:endParaRPr lang="fr-FR" dirty="0"/>
          </a:p>
          <a:p>
            <a:pPr lvl="0"/>
            <a:r>
              <a:rPr lang="fr-FR" dirty="0"/>
              <a:t>Détectent les </a:t>
            </a:r>
            <a:r>
              <a:rPr lang="fr-FR" b="1" dirty="0"/>
              <a:t>vibrations ou sons produits par l’eau qui fuit</a:t>
            </a:r>
            <a:endParaRPr lang="fr-FR" dirty="0"/>
          </a:p>
          <a:p>
            <a:pPr marL="0" indent="0">
              <a:buNone/>
            </a:pPr>
            <a:r>
              <a:rPr lang="fr-FR" b="1" dirty="0"/>
              <a:t>Importance</a:t>
            </a:r>
          </a:p>
          <a:p>
            <a:r>
              <a:rPr lang="fr-FR" dirty="0"/>
              <a:t>Ils permettent de :</a:t>
            </a:r>
          </a:p>
          <a:p>
            <a:pPr lvl="0"/>
            <a:r>
              <a:rPr lang="fr-FR" dirty="0"/>
              <a:t>réduire les </a:t>
            </a:r>
            <a:r>
              <a:rPr lang="fr-FR" b="1" dirty="0"/>
              <a:t>pertes d’eau</a:t>
            </a:r>
            <a:endParaRPr lang="fr-FR" dirty="0"/>
          </a:p>
          <a:p>
            <a:pPr lvl="0"/>
            <a:r>
              <a:rPr lang="fr-FR" dirty="0"/>
              <a:t>intervenir rapidement pour réparer les conduites.</a:t>
            </a:r>
          </a:p>
        </p:txBody>
      </p:sp>
    </p:spTree>
    <p:extLst>
      <p:ext uri="{BB962C8B-B14F-4D97-AF65-F5344CB8AC3E}">
        <p14:creationId xmlns:p14="http://schemas.microsoft.com/office/powerpoint/2010/main" val="3599327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813F-2FE6-4E9E-A96F-4A3F429A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55" y="2766218"/>
            <a:ext cx="10515600" cy="1325563"/>
          </a:xfrm>
        </p:spPr>
        <p:txBody>
          <a:bodyPr/>
          <a:lstStyle/>
          <a:p>
            <a:pPr algn="ctr"/>
            <a:r>
              <a:rPr lang="fr-FR" b="1" dirty="0"/>
              <a:t>2. MODÉLISATION NUMÉRIQUE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001751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</TotalTime>
  <Words>786</Words>
  <Application>Microsoft Office PowerPoint</Application>
  <PresentationFormat>Widescreen</PresentationFormat>
  <Paragraphs>122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PROJET TUTORE BAC 3</vt:lpstr>
      <vt:lpstr>Fonctionnement</vt:lpstr>
      <vt:lpstr>Avantages pour la ville</vt:lpstr>
      <vt:lpstr>1. Collecte des données</vt:lpstr>
      <vt:lpstr>1. Collecte des données</vt:lpstr>
      <vt:lpstr>1. Collecte des données</vt:lpstr>
      <vt:lpstr>1. Collecte des données</vt:lpstr>
      <vt:lpstr>TYPES DES CAPETEURS A UTILISER</vt:lpstr>
      <vt:lpstr>TYPES DES CAPETEURS A UTILISER</vt:lpstr>
      <vt:lpstr>TYPES DES CAPETEURS A UTILISER</vt:lpstr>
      <vt:lpstr>TYPES DES CAPETEURS A UTILISER</vt:lpstr>
      <vt:lpstr>TYPES DES CAPETEURS A UTILISER</vt:lpstr>
      <vt:lpstr>2. MODÉLISATION NUMÉRIQUE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TUTORE BAC 3</dc:title>
  <dc:creator>Landry Mushagalusa</dc:creator>
  <cp:lastModifiedBy>Landry Mushagalusa</cp:lastModifiedBy>
  <cp:revision>16</cp:revision>
  <dcterms:created xsi:type="dcterms:W3CDTF">2026-03-17T09:16:10Z</dcterms:created>
  <dcterms:modified xsi:type="dcterms:W3CDTF">2026-03-17T09:34:41Z</dcterms:modified>
</cp:coreProperties>
</file>