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987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977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688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330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95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97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89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4005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4A75FF3-287D-4EF3-90BA-1F7B57D98EBD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391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483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508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75FF3-287D-4EF3-90BA-1F7B57D98EBD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82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E607C-BAA5-495A-B8E9-C0BC60570B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6000" dirty="0"/>
              <a:t>PROJET TUTORE BAC 3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D6C0047-9F07-4BDB-BFDC-F8D250CD78CB}"/>
              </a:ext>
            </a:extLst>
          </p:cNvPr>
          <p:cNvSpPr txBox="1">
            <a:spLocks/>
          </p:cNvSpPr>
          <p:nvPr/>
        </p:nvSpPr>
        <p:spPr>
          <a:xfrm>
            <a:off x="1676400" y="358818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Jumelle digitale avec IA pour optimiser le déploiement et la maintenance du réseau de fourniture d'eau potable de la ville de Bukavu.</a:t>
            </a:r>
            <a:endParaRPr lang="fr-FR" sz="18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BFF6293-53B2-4376-9441-1F2D93B1B9DB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1892566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A6FEB-1463-4445-9B97-6C8774AE8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Architecture Globale du Système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03C5177-9B56-48A9-895B-C0900898F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L’</a:t>
            </a:r>
            <a:r>
              <a:rPr lang="fr-FR" b="1" dirty="0"/>
              <a:t>architecture globale du système</a:t>
            </a:r>
            <a:r>
              <a:rPr lang="fr-FR" dirty="0"/>
              <a:t> décrit comment tous les composants (capteurs, réseau, serveur, intelligence artificielle, interface utilisateur) sont organisés et interagissent pour faire fonctionner la </a:t>
            </a:r>
            <a:r>
              <a:rPr lang="fr-FR" b="1" dirty="0"/>
              <a:t>jumelle digitale du réseau d’eau potable</a:t>
            </a:r>
            <a:r>
              <a:rPr lang="fr-FR" dirty="0"/>
              <a:t> de la ville de Bukavu.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A6A8C8D-74D0-4D57-B8F8-ADC4621B9A19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1599154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E99FF-B314-4AAE-B54E-1E507062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Architecture Globale du Système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C450F-3826-4F72-B107-B45C6084D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1.  Vue d’ensemble du système</a:t>
            </a:r>
          </a:p>
          <a:p>
            <a:pPr marL="0" indent="0">
              <a:buNone/>
            </a:pPr>
            <a:r>
              <a:rPr lang="fr-FR" dirty="0"/>
              <a:t>Le système est structuré en </a:t>
            </a:r>
            <a:r>
              <a:rPr lang="fr-FR" b="1" dirty="0"/>
              <a:t>plusieurs couches (ou niveaux)</a:t>
            </a:r>
            <a:r>
              <a:rPr lang="fr-FR" dirty="0"/>
              <a:t> :</a:t>
            </a:r>
          </a:p>
          <a:p>
            <a:r>
              <a:rPr lang="fr-FR" b="1" dirty="0"/>
              <a:t>Couche physique (terrain)</a:t>
            </a:r>
            <a:r>
              <a:rPr lang="fr-FR" dirty="0"/>
              <a:t> </a:t>
            </a:r>
          </a:p>
          <a:p>
            <a:r>
              <a:rPr lang="fr-FR" b="1" dirty="0"/>
              <a:t>Couche communication (réseau)</a:t>
            </a:r>
            <a:r>
              <a:rPr lang="fr-FR" dirty="0"/>
              <a:t> </a:t>
            </a:r>
          </a:p>
          <a:p>
            <a:r>
              <a:rPr lang="fr-FR" b="1" dirty="0"/>
              <a:t>Couche traitement (serveur et IA)</a:t>
            </a:r>
            <a:r>
              <a:rPr lang="fr-FR" dirty="0"/>
              <a:t> </a:t>
            </a:r>
          </a:p>
          <a:p>
            <a:r>
              <a:rPr lang="fr-FR" b="1" dirty="0"/>
              <a:t>Couche application (interface utilisateur)</a:t>
            </a:r>
            <a:r>
              <a:rPr lang="fr-FR" dirty="0"/>
              <a:t> 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F1BE66F-8DB0-4884-84CB-3AE05E128237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308759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F42A-28F8-4E26-8BBF-FD1FE2329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fr-FR" dirty="0"/>
              <a:t>1. Architecture Globale du Système</a:t>
            </a:r>
            <a:br>
              <a:rPr lang="fr-FR" dirty="0"/>
            </a:br>
            <a:r>
              <a:rPr lang="fr-FR" sz="2000" dirty="0">
                <a:solidFill>
                  <a:srgbClr val="C00000"/>
                </a:solidFill>
              </a:rPr>
              <a:t>1.  Vue d’ensemble du système</a:t>
            </a:r>
            <a:br>
              <a:rPr lang="fr-FR" dirty="0"/>
            </a:b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6D2E4-DD04-4CF0-B641-F04279DE0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A. Couche physique (Capteurs &amp; équipements)</a:t>
            </a:r>
          </a:p>
          <a:p>
            <a:pPr marL="0" indent="0">
              <a:buNone/>
            </a:pPr>
            <a:r>
              <a:rPr lang="fr-FR" dirty="0"/>
              <a:t>C’est la base du système, où l’on trouve :</a:t>
            </a:r>
          </a:p>
          <a:p>
            <a:r>
              <a:rPr lang="fr-FR" dirty="0"/>
              <a:t>les </a:t>
            </a:r>
            <a:r>
              <a:rPr lang="fr-FR" b="1" dirty="0"/>
              <a:t>capteurs</a:t>
            </a:r>
            <a:r>
              <a:rPr lang="fr-FR" dirty="0"/>
              <a:t> (pression, débit, qualité, niveau, fuite) </a:t>
            </a:r>
          </a:p>
          <a:p>
            <a:r>
              <a:rPr lang="fr-FR" dirty="0"/>
              <a:t>les </a:t>
            </a:r>
            <a:r>
              <a:rPr lang="fr-FR" b="1" dirty="0"/>
              <a:t>équipements hydrauliques</a:t>
            </a:r>
            <a:r>
              <a:rPr lang="fr-FR" dirty="0"/>
              <a:t> (pompes, vannes, réservoirs) </a:t>
            </a:r>
          </a:p>
          <a:p>
            <a:pPr marL="0" indent="0">
              <a:buNone/>
            </a:pPr>
            <a:r>
              <a:rPr lang="fr-FR" dirty="0"/>
              <a:t>Rôle : Collecter les </a:t>
            </a:r>
            <a:r>
              <a:rPr lang="fr-FR" b="1" dirty="0"/>
              <a:t>données réelles du réseau d’eau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FF67078-48D8-4012-956F-04D4A7CB831B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4264266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72AF-9B78-4BAF-8F6B-E62630AA0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1. Architecture Globale du Système</a:t>
            </a:r>
            <a:br>
              <a:rPr lang="fr-FR" dirty="0"/>
            </a:br>
            <a:r>
              <a:rPr lang="fr-FR" sz="2000" dirty="0">
                <a:solidFill>
                  <a:srgbClr val="C00000"/>
                </a:solidFill>
              </a:rPr>
              <a:t>1.  Vue d’ensemble du système</a:t>
            </a:r>
            <a:br>
              <a:rPr lang="fr-FR" dirty="0"/>
            </a:b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84DC-C546-429D-AC36-580105ABE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B. Couche communication (IoT)</a:t>
            </a:r>
          </a:p>
          <a:p>
            <a:pPr marL="0" indent="0">
              <a:buNone/>
            </a:pPr>
            <a:r>
              <a:rPr lang="fr-FR" dirty="0"/>
              <a:t>Les données collectées doivent être transmises vers un serveur.</a:t>
            </a:r>
          </a:p>
          <a:p>
            <a:pPr marL="0" indent="0">
              <a:buNone/>
            </a:pPr>
            <a:r>
              <a:rPr lang="fr-FR" dirty="0"/>
              <a:t>Technologies possibles :</a:t>
            </a:r>
          </a:p>
          <a:p>
            <a:r>
              <a:rPr lang="fr-FR" b="1" dirty="0"/>
              <a:t>GSM / 4G / 5G</a:t>
            </a:r>
            <a:r>
              <a:rPr lang="fr-FR" dirty="0"/>
              <a:t> </a:t>
            </a:r>
          </a:p>
          <a:p>
            <a:r>
              <a:rPr lang="fr-FR" b="1" dirty="0" err="1"/>
              <a:t>LoRaWAN</a:t>
            </a:r>
            <a:r>
              <a:rPr lang="fr-FR" dirty="0"/>
              <a:t> (faible consommation, longue distance) </a:t>
            </a:r>
          </a:p>
          <a:p>
            <a:r>
              <a:rPr lang="fr-FR" b="1" dirty="0"/>
              <a:t>Wi-Fi</a:t>
            </a:r>
            <a:r>
              <a:rPr lang="fr-FR" dirty="0"/>
              <a:t> (zones limitées) </a:t>
            </a:r>
          </a:p>
          <a:p>
            <a:pPr marL="0" indent="0">
              <a:buNone/>
            </a:pPr>
            <a:r>
              <a:rPr lang="fr-FR" dirty="0"/>
              <a:t>Rôle :  Assurer la </a:t>
            </a:r>
            <a:r>
              <a:rPr lang="fr-FR" b="1" dirty="0"/>
              <a:t>transmission des données en temps réel</a:t>
            </a:r>
            <a:r>
              <a:rPr lang="fr-FR" dirty="0"/>
              <a:t> depuis le terrain vers le système central.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048C6A0-4E10-4636-9C2F-E85855852616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4033720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9F950-367C-42F0-AFFE-51212B59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1. Architecture Globale du Système</a:t>
            </a:r>
            <a:br>
              <a:rPr lang="fr-FR" dirty="0"/>
            </a:br>
            <a:r>
              <a:rPr lang="fr-FR" sz="2000" dirty="0">
                <a:solidFill>
                  <a:srgbClr val="C00000"/>
                </a:solidFill>
              </a:rPr>
              <a:t>1.  Vue d’ensemble du système</a:t>
            </a:r>
            <a:br>
              <a:rPr lang="fr-FR" dirty="0"/>
            </a:b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BCC7E-E7B5-4171-B8CE-09D7CF106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C. Couche traitement (Serveur + IA)</a:t>
            </a:r>
          </a:p>
          <a:p>
            <a:pPr marL="0" indent="0">
              <a:buNone/>
            </a:pPr>
            <a:r>
              <a:rPr lang="fr-FR" dirty="0"/>
              <a:t>C’est le “cerveau” du système. Elle comprend :</a:t>
            </a:r>
          </a:p>
          <a:p>
            <a:r>
              <a:rPr lang="fr-FR" dirty="0"/>
              <a:t>un </a:t>
            </a:r>
            <a:r>
              <a:rPr lang="fr-FR" b="1" dirty="0"/>
              <a:t>serveur (cloud ou local)</a:t>
            </a:r>
            <a:r>
              <a:rPr lang="fr-FR" dirty="0"/>
              <a:t> </a:t>
            </a:r>
          </a:p>
          <a:p>
            <a:r>
              <a:rPr lang="fr-FR" dirty="0"/>
              <a:t>une </a:t>
            </a:r>
            <a:r>
              <a:rPr lang="fr-FR" b="1" dirty="0"/>
              <a:t>base de données</a:t>
            </a:r>
            <a:r>
              <a:rPr lang="fr-FR" dirty="0"/>
              <a:t> </a:t>
            </a:r>
          </a:p>
          <a:p>
            <a:r>
              <a:rPr lang="fr-FR" dirty="0"/>
              <a:t>les </a:t>
            </a:r>
            <a:r>
              <a:rPr lang="fr-FR" b="1" dirty="0"/>
              <a:t>algorithmes d’intelligence artificielle</a:t>
            </a:r>
            <a:r>
              <a:rPr lang="fr-FR" dirty="0"/>
              <a:t> </a:t>
            </a:r>
          </a:p>
          <a:p>
            <a:r>
              <a:rPr lang="fr-FR" dirty="0"/>
              <a:t>le </a:t>
            </a:r>
            <a:r>
              <a:rPr lang="fr-FR" b="1" dirty="0"/>
              <a:t>modèle de la jumelle digitale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dirty="0"/>
              <a:t>Rôle : stocker les données, analyser les informations, simuler le réseau, détecter les anomalies, faire des prédictions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112CE9B-ED96-4588-AEBA-F120310F68C7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2892483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F769-D0A5-4FEB-B979-0996CC304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1. Architecture Globale du Système</a:t>
            </a:r>
            <a:br>
              <a:rPr lang="fr-FR" dirty="0"/>
            </a:br>
            <a:r>
              <a:rPr lang="fr-FR" sz="2000" dirty="0">
                <a:solidFill>
                  <a:srgbClr val="C00000"/>
                </a:solidFill>
              </a:rPr>
              <a:t>1.  Vue d’ensemble du système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5DAE6-F542-4C32-A0C1-0B5BA5C56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D. Couche application (Interface utilisateur)</a:t>
            </a:r>
          </a:p>
          <a:p>
            <a:pPr marL="0" indent="0">
              <a:buNone/>
            </a:pPr>
            <a:r>
              <a:rPr lang="fr-FR" dirty="0"/>
              <a:t>C’est la partie visible pour les utilisateurs (ingénieurs, techniciens). Elle peut être :</a:t>
            </a:r>
          </a:p>
          <a:p>
            <a:r>
              <a:rPr lang="fr-FR" dirty="0"/>
              <a:t>une </a:t>
            </a:r>
            <a:r>
              <a:rPr lang="fr-FR" b="1" dirty="0"/>
              <a:t>application web</a:t>
            </a:r>
            <a:r>
              <a:rPr lang="fr-FR" dirty="0"/>
              <a:t> </a:t>
            </a:r>
          </a:p>
          <a:p>
            <a:r>
              <a:rPr lang="fr-FR" dirty="0"/>
              <a:t>une </a:t>
            </a:r>
            <a:r>
              <a:rPr lang="fr-FR" b="1" dirty="0"/>
              <a:t>application mobile</a:t>
            </a:r>
            <a:r>
              <a:rPr lang="fr-FR" dirty="0"/>
              <a:t> </a:t>
            </a:r>
          </a:p>
          <a:p>
            <a:r>
              <a:rPr lang="fr-FR" dirty="0"/>
              <a:t>un </a:t>
            </a:r>
            <a:r>
              <a:rPr lang="fr-FR" b="1" dirty="0"/>
              <a:t>tableau de bord (</a:t>
            </a:r>
            <a:r>
              <a:rPr lang="fr-FR" b="1" dirty="0" err="1"/>
              <a:t>dashboard</a:t>
            </a:r>
            <a:r>
              <a:rPr lang="fr-FR" b="1" dirty="0"/>
              <a:t>)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dirty="0"/>
              <a:t>Rôle : afficher l’état du réseau en temps réel, montrer les alertes (fuites, pannes), aider à la prise de décision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CD5A0CD-FA77-46BB-BA11-4B31F8C721B9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2371219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2270-FE16-4347-B53B-5504AD67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1. Architecture Globale du Système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D9F51-E8ED-47E4-B2D3-65F279BD7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2. Schéma simplifié</a:t>
            </a:r>
          </a:p>
          <a:p>
            <a:pPr marL="0" indent="0">
              <a:buNone/>
            </a:pPr>
            <a:r>
              <a:rPr lang="fr-FR" dirty="0"/>
              <a:t>Capteurs → Réseau IoT → Serveur/IA → Jumelle Digitale → Interface Utilisateur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00D6145-E079-44C0-ACFF-A885F12E71FC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1DBC88-5D2C-4843-A81F-F83F1A5D4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829" y="3113555"/>
            <a:ext cx="5385481" cy="293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07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0C54E-3C13-46E8-8553-14CF6C15D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Architecture Globale du Système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EBD21-D373-4F63-9307-3E3E8209B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3. Fonctionnement global</a:t>
            </a:r>
          </a:p>
          <a:p>
            <a:r>
              <a:rPr lang="fr-FR" dirty="0"/>
              <a:t>Les capteurs collectent les données sur le terrain </a:t>
            </a:r>
          </a:p>
          <a:p>
            <a:r>
              <a:rPr lang="fr-FR" dirty="0"/>
              <a:t>Les données sont envoyées via Internet </a:t>
            </a:r>
          </a:p>
          <a:p>
            <a:r>
              <a:rPr lang="fr-FR" dirty="0"/>
              <a:t>Le serveur analyse ces données avec l’IA </a:t>
            </a:r>
          </a:p>
          <a:p>
            <a:r>
              <a:rPr lang="fr-FR" dirty="0"/>
              <a:t>La jumelle digitale simule le réseau </a:t>
            </a:r>
          </a:p>
          <a:p>
            <a:r>
              <a:rPr lang="fr-FR" dirty="0"/>
              <a:t>Les résultats sont affichés aux utilisateurs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DA77024-7E91-4E43-9785-359C3C115213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1432287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EDC0E-B9A1-49FB-BBE6-A5BDCBC72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848E0-D86F-45A2-A164-FE14B5A87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2165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AutoNum type="arabicPeriod"/>
            </a:pPr>
            <a:r>
              <a:rPr lang="fr-FR" dirty="0"/>
              <a:t>Algorithmes de détection d’anomalies</a:t>
            </a:r>
          </a:p>
          <a:p>
            <a:pPr marL="457200" indent="-457200">
              <a:buAutoNum type="arabicPeriod"/>
            </a:pPr>
            <a:r>
              <a:rPr lang="fr-FR" dirty="0"/>
              <a:t>Algorithmes de prédiction (Machine Learning)</a:t>
            </a:r>
          </a:p>
          <a:p>
            <a:pPr marL="457200" indent="-457200">
              <a:buAutoNum type="arabicPeriod"/>
            </a:pPr>
            <a:r>
              <a:rPr lang="fr-FR" dirty="0"/>
              <a:t>Algorithmes d’optimisation</a:t>
            </a:r>
          </a:p>
          <a:p>
            <a:pPr marL="457200" indent="-457200">
              <a:buAutoNum type="arabicPeriod"/>
            </a:pPr>
            <a:r>
              <a:rPr lang="fr-FR" dirty="0"/>
              <a:t>Algorithmes de simulation hydraulique</a:t>
            </a:r>
          </a:p>
          <a:p>
            <a:pPr marL="457200" indent="-457200">
              <a:buAutoNum type="arabicPeriod"/>
            </a:pPr>
            <a:r>
              <a:rPr lang="fr-FR" dirty="0"/>
              <a:t>Algorithmes de classification</a:t>
            </a:r>
          </a:p>
          <a:p>
            <a:pPr marL="457200" indent="-457200">
              <a:buAutoNum type="arabicPeriod"/>
            </a:pPr>
            <a:r>
              <a:rPr lang="fr-FR" dirty="0"/>
              <a:t>Algorithmes de prise de décision</a:t>
            </a:r>
          </a:p>
          <a:p>
            <a:pPr marL="0" indent="0">
              <a:buNone/>
            </a:pPr>
            <a:r>
              <a:rPr lang="fr-FR" dirty="0"/>
              <a:t>Les algorithmes sont le </a:t>
            </a:r>
            <a:r>
              <a:rPr lang="fr-FR" b="1" dirty="0"/>
              <a:t>cœur intelligent du système</a:t>
            </a:r>
            <a:r>
              <a:rPr lang="fr-FR" dirty="0"/>
              <a:t>. Ils permettent de transformer les données en </a:t>
            </a:r>
            <a:r>
              <a:rPr lang="fr-FR" b="1" dirty="0"/>
              <a:t>informations utiles, prédictions et décisions</a:t>
            </a:r>
            <a:r>
              <a:rPr lang="fr-FR" dirty="0"/>
              <a:t>, rendant la gestion du réseau d’eau potable plus </a:t>
            </a:r>
            <a:r>
              <a:rPr lang="fr-FR" b="1" dirty="0"/>
              <a:t>efficace, rapide et intelligente</a:t>
            </a:r>
            <a:r>
              <a:rPr lang="fr-FR" dirty="0"/>
              <a:t>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3D327DD-8F50-4BA4-8D99-EDADE606329E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253985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1AC5C-CF46-4E79-B73F-1ED7358D7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013F1-BB10-4648-8DD7-5325BB880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23250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buAutoNum type="arabicPeriod"/>
            </a:pPr>
            <a:r>
              <a:rPr lang="fr-FR" dirty="0"/>
              <a:t>Algorithmes de détection d’anomalies</a:t>
            </a:r>
          </a:p>
          <a:p>
            <a:pPr>
              <a:buFontTx/>
              <a:buChar char="-"/>
            </a:pPr>
            <a:r>
              <a:rPr lang="fr-FR" dirty="0"/>
              <a:t>Détection simple par seuil (</a:t>
            </a:r>
            <a:r>
              <a:rPr lang="fr-FR" dirty="0" err="1"/>
              <a:t>Threshold</a:t>
            </a:r>
            <a:r>
              <a:rPr lang="fr-FR" dirty="0"/>
              <a:t>)</a:t>
            </a:r>
          </a:p>
          <a:p>
            <a:pPr marL="0" indent="0">
              <a:buNone/>
            </a:pPr>
            <a:r>
              <a:rPr lang="fr-FR" b="1" dirty="0"/>
              <a:t>Principe: </a:t>
            </a:r>
            <a:r>
              <a:rPr lang="fr-FR" dirty="0"/>
              <a:t>On compare la valeur mesurée à une </a:t>
            </a:r>
            <a:r>
              <a:rPr lang="fr-FR" b="1" dirty="0"/>
              <a:t>valeur normale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DEBUT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lire pression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SI pression &lt;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seuil_min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OU pression &gt;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seuil_max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ALORS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   afficher "Anomalie détectée"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SINON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   afficher "Situation normale"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FIN SI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3782307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18DF-97A3-4552-9BE6-1D40F731F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1E40F-B551-47DE-9F72-88A8BFEEC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romanUcPeriod"/>
            </a:pPr>
            <a:r>
              <a:rPr lang="fr-FR" dirty="0"/>
              <a:t>Algorithmes de détection d’anomalies</a:t>
            </a:r>
          </a:p>
          <a:p>
            <a:pPr>
              <a:buFontTx/>
              <a:buChar char="-"/>
            </a:pPr>
            <a:r>
              <a:rPr lang="fr-FR" dirty="0"/>
              <a:t>Détection simple par seuil (</a:t>
            </a:r>
            <a:r>
              <a:rPr lang="fr-FR" dirty="0" err="1"/>
              <a:t>Threshold</a:t>
            </a:r>
            <a:r>
              <a:rPr lang="fr-FR" dirty="0"/>
              <a:t>)</a:t>
            </a:r>
          </a:p>
          <a:p>
            <a:pPr marL="0" indent="0">
              <a:buNone/>
            </a:pPr>
            <a:r>
              <a:rPr lang="fr-FR" b="1" dirty="0"/>
              <a:t>Exemple</a:t>
            </a:r>
          </a:p>
          <a:p>
            <a:r>
              <a:rPr lang="fr-FR" dirty="0" err="1"/>
              <a:t>seuil_min</a:t>
            </a:r>
            <a:r>
              <a:rPr lang="fr-FR" dirty="0"/>
              <a:t> = 2 bar </a:t>
            </a:r>
          </a:p>
          <a:p>
            <a:r>
              <a:rPr lang="fr-FR" dirty="0" err="1"/>
              <a:t>seuil_max</a:t>
            </a:r>
            <a:r>
              <a:rPr lang="fr-FR" dirty="0"/>
              <a:t> = 6 bar </a:t>
            </a:r>
          </a:p>
          <a:p>
            <a:pPr marL="0" indent="0">
              <a:buNone/>
            </a:pPr>
            <a:r>
              <a:rPr lang="fr-FR" dirty="0"/>
              <a:t>Si pression = 1.5 bar → anomalie (fuite possible)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7409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D5970-56D2-4228-BBEC-2A7EB2EB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4EB27-2483-48DA-A7EF-EBAB97CAD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95541"/>
          </a:xfrm>
        </p:spPr>
        <p:txBody>
          <a:bodyPr>
            <a:normAutofit fontScale="62500" lnSpcReduction="20000"/>
          </a:bodyPr>
          <a:lstStyle/>
          <a:p>
            <a:pPr marL="457200" indent="-457200">
              <a:buAutoNum type="arabicPeriod"/>
            </a:pPr>
            <a:r>
              <a:rPr lang="fr-FR" dirty="0"/>
              <a:t>Algorithmes de détection d’anomalies</a:t>
            </a:r>
          </a:p>
          <a:p>
            <a:pPr>
              <a:buFontTx/>
              <a:buChar char="-"/>
            </a:pPr>
            <a:r>
              <a:rPr lang="fr-FR" b="1" dirty="0"/>
              <a:t>Détection par comparaison avec moyenne</a:t>
            </a:r>
          </a:p>
          <a:p>
            <a:pPr marL="0" indent="0">
              <a:buNone/>
            </a:pPr>
            <a:r>
              <a:rPr lang="fr-FR" b="1" dirty="0"/>
              <a:t>Principe : </a:t>
            </a:r>
            <a:r>
              <a:rPr lang="fr-FR" dirty="0"/>
              <a:t>Comparer la valeur actuelle avec la </a:t>
            </a:r>
            <a:r>
              <a:rPr lang="fr-FR" b="1" dirty="0"/>
              <a:t>moyenne historique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DEBUT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lire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debit_actuel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calculer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moyenne_debit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SI ABS(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debit_actuel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-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moyenne_debit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) &gt; seuil ALORS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   afficher "Anomalie détectée"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SINON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   afficher "Normal"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FIN SI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4279014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C7B41-4096-4361-90CA-BAC204B41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22DD1-143D-474B-BDF2-D47AAECB0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fr-FR" dirty="0"/>
              <a:t>Algorithmes de détection d’anomalies</a:t>
            </a:r>
          </a:p>
          <a:p>
            <a:pPr>
              <a:buFontTx/>
              <a:buChar char="-"/>
            </a:pPr>
            <a:r>
              <a:rPr lang="fr-FR" b="1" dirty="0"/>
              <a:t>Détection par comparaison avec moyenne</a:t>
            </a:r>
          </a:p>
          <a:p>
            <a:pPr marL="0" indent="0">
              <a:buNone/>
            </a:pPr>
            <a:r>
              <a:rPr lang="fr-FR" dirty="0"/>
              <a:t>Permet de détecter :</a:t>
            </a:r>
          </a:p>
          <a:p>
            <a:r>
              <a:rPr lang="fr-FR" dirty="0"/>
              <a:t>La surconsommation </a:t>
            </a:r>
          </a:p>
          <a:p>
            <a:r>
              <a:rPr lang="fr-FR" dirty="0"/>
              <a:t>La chute brutale de débit</a:t>
            </a:r>
          </a:p>
        </p:txBody>
      </p:sp>
    </p:spTree>
    <p:extLst>
      <p:ext uri="{BB962C8B-B14F-4D97-AF65-F5344CB8AC3E}">
        <p14:creationId xmlns:p14="http://schemas.microsoft.com/office/powerpoint/2010/main" val="3567422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9B549-80D5-46F4-94C9-4C121F61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173ED-4943-45CE-B671-10BB9D404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793941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buAutoNum type="arabicPeriod"/>
            </a:pPr>
            <a:r>
              <a:rPr lang="fr-FR" dirty="0"/>
              <a:t>Algorithmes de détection d’anomalies</a:t>
            </a:r>
          </a:p>
          <a:p>
            <a:pPr>
              <a:buFontTx/>
              <a:buChar char="-"/>
            </a:pPr>
            <a:r>
              <a:rPr lang="fr-FR" dirty="0"/>
              <a:t>Détection basée sur variation brusque</a:t>
            </a:r>
          </a:p>
          <a:p>
            <a:pPr marL="0" indent="0">
              <a:buNone/>
            </a:pPr>
            <a:r>
              <a:rPr lang="fr-FR" b="1" dirty="0"/>
              <a:t>Principe : </a:t>
            </a:r>
            <a:r>
              <a:rPr lang="fr-FR" dirty="0"/>
              <a:t>Observer les changements rapides entre deux mesures.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DEBUT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lire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valeur_actuelle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lire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valeur_precedente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variation =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valeur_actuelle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-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valeur_precedente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SI ABS(variation) &gt;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seuil_variation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ALORS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   afficher "Changement anormal"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FIN SI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3170818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2FD21-D364-4D5B-8E99-BFA1E76FE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BEB45-3306-4BEF-9A28-704E880D7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fr-FR" dirty="0"/>
              <a:t>Algorithmes de détection d’anomalies</a:t>
            </a:r>
          </a:p>
          <a:p>
            <a:pPr>
              <a:buFontTx/>
              <a:buChar char="-"/>
            </a:pPr>
            <a:r>
              <a:rPr lang="fr-FR" dirty="0"/>
              <a:t>Détection basée sur variation brusque</a:t>
            </a:r>
          </a:p>
          <a:p>
            <a:pPr marL="0" indent="0">
              <a:buNone/>
            </a:pPr>
            <a:r>
              <a:rPr lang="fr-FR" dirty="0"/>
              <a:t>Exemple :</a:t>
            </a:r>
          </a:p>
          <a:p>
            <a:r>
              <a:rPr lang="fr-FR" dirty="0"/>
              <a:t>chute rapide de pression → possible rupture de canalisation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7390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82D43-2A3A-4CE9-8E0D-52553DFA2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C25AA-F045-46D1-8161-2DEB953A5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62500" lnSpcReduction="20000"/>
          </a:bodyPr>
          <a:lstStyle/>
          <a:p>
            <a:pPr marL="457200" indent="-457200">
              <a:buAutoNum type="arabicPeriod"/>
            </a:pPr>
            <a:r>
              <a:rPr lang="fr-FR" dirty="0"/>
              <a:t>Algorithmes de détection d’anomalies</a:t>
            </a:r>
          </a:p>
          <a:p>
            <a:pPr>
              <a:buFontTx/>
              <a:buChar char="-"/>
            </a:pPr>
            <a:r>
              <a:rPr lang="fr-FR" dirty="0"/>
              <a:t>Détection de fuite (pression + débit)</a:t>
            </a:r>
          </a:p>
          <a:p>
            <a:pPr marL="0" indent="0">
              <a:buNone/>
            </a:pPr>
            <a:r>
              <a:rPr lang="fr-FR" b="1" dirty="0"/>
              <a:t>Principe : </a:t>
            </a:r>
            <a:r>
              <a:rPr lang="fr-FR" dirty="0"/>
              <a:t>Combiner plusieurs paramètres pour être plus précis.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DEBUT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lire pression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lire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debit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SI pression diminue ET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debit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augmente ALORS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   afficher "Fuite probable"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SINON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   afficher "Normal"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FIN SI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2568975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2332C-2D63-4C61-9419-037E14CB3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90738-3B95-40E2-A188-E5E3C7511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fr-FR" dirty="0"/>
              <a:t>Algorithmes de détection d’anomalies</a:t>
            </a:r>
          </a:p>
          <a:p>
            <a:pPr>
              <a:buFontTx/>
              <a:buChar char="-"/>
            </a:pPr>
            <a:r>
              <a:rPr lang="fr-FR" dirty="0"/>
              <a:t>Détection avec score d’anomalie (IA simplifiée)</a:t>
            </a:r>
          </a:p>
          <a:p>
            <a:pPr marL="0" indent="0">
              <a:buNone/>
            </a:pPr>
            <a:r>
              <a:rPr lang="fr-FR" b="1" dirty="0"/>
              <a:t>Principe : </a:t>
            </a:r>
            <a:r>
              <a:rPr lang="fr-FR" dirty="0"/>
              <a:t>Attribuer un score pour décider si c’est normal ou non.</a:t>
            </a:r>
          </a:p>
        </p:txBody>
      </p:sp>
    </p:spTree>
    <p:extLst>
      <p:ext uri="{BB962C8B-B14F-4D97-AF65-F5344CB8AC3E}">
        <p14:creationId xmlns:p14="http://schemas.microsoft.com/office/powerpoint/2010/main" val="1929187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D542C-37EF-4B50-AF6A-B01487467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37" y="184727"/>
            <a:ext cx="11333018" cy="594821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u="sng" dirty="0"/>
              <a:t>DEBUT</a:t>
            </a:r>
          </a:p>
          <a:p>
            <a:pPr marL="0" indent="0">
              <a:buNone/>
            </a:pPr>
            <a:r>
              <a:rPr lang="fr-FR" u="sng" dirty="0"/>
              <a:t>score = 0</a:t>
            </a:r>
          </a:p>
          <a:p>
            <a:pPr marL="0" indent="0">
              <a:buNone/>
            </a:pPr>
            <a:r>
              <a:rPr lang="fr-FR" u="sng" dirty="0"/>
              <a:t>SI pression &lt; </a:t>
            </a:r>
            <a:r>
              <a:rPr lang="fr-FR" u="sng" dirty="0" err="1"/>
              <a:t>seuil_min</a:t>
            </a:r>
            <a:r>
              <a:rPr lang="fr-FR" u="sng" dirty="0"/>
              <a:t> ALORS</a:t>
            </a:r>
          </a:p>
          <a:p>
            <a:pPr marL="0" indent="0">
              <a:buNone/>
            </a:pPr>
            <a:r>
              <a:rPr lang="fr-FR" u="sng" dirty="0"/>
              <a:t>    score = score + 1</a:t>
            </a:r>
          </a:p>
          <a:p>
            <a:pPr marL="0" indent="0">
              <a:buNone/>
            </a:pPr>
            <a:r>
              <a:rPr lang="fr-FR" u="sng" dirty="0"/>
              <a:t>FIN SI</a:t>
            </a:r>
          </a:p>
          <a:p>
            <a:pPr marL="0" indent="0">
              <a:buNone/>
            </a:pPr>
            <a:r>
              <a:rPr lang="fr-FR" u="sng" dirty="0"/>
              <a:t>SI </a:t>
            </a:r>
            <a:r>
              <a:rPr lang="fr-FR" u="sng" dirty="0" err="1"/>
              <a:t>debit</a:t>
            </a:r>
            <a:r>
              <a:rPr lang="fr-FR" u="sng" dirty="0"/>
              <a:t> &gt; </a:t>
            </a:r>
            <a:r>
              <a:rPr lang="fr-FR" u="sng" dirty="0" err="1"/>
              <a:t>seuil_debit</a:t>
            </a:r>
            <a:r>
              <a:rPr lang="fr-FR" u="sng" dirty="0"/>
              <a:t> ALORS</a:t>
            </a:r>
          </a:p>
          <a:p>
            <a:pPr marL="0" indent="0">
              <a:buNone/>
            </a:pPr>
            <a:r>
              <a:rPr lang="fr-FR" u="sng" dirty="0"/>
              <a:t>    score = score + 1</a:t>
            </a:r>
          </a:p>
          <a:p>
            <a:pPr marL="0" indent="0">
              <a:buNone/>
            </a:pPr>
            <a:r>
              <a:rPr lang="fr-FR" u="sng" dirty="0"/>
              <a:t>FIN SI</a:t>
            </a:r>
          </a:p>
          <a:p>
            <a:pPr marL="0" indent="0">
              <a:buNone/>
            </a:pPr>
            <a:r>
              <a:rPr lang="fr-FR" u="sng" dirty="0"/>
              <a:t>SI </a:t>
            </a:r>
            <a:r>
              <a:rPr lang="fr-FR" u="sng" dirty="0" err="1"/>
              <a:t>qualite_eau</a:t>
            </a:r>
            <a:r>
              <a:rPr lang="fr-FR" u="sng" dirty="0"/>
              <a:t> mauvaise ALORS</a:t>
            </a:r>
          </a:p>
          <a:p>
            <a:pPr marL="0" indent="0">
              <a:buNone/>
            </a:pPr>
            <a:r>
              <a:rPr lang="fr-FR" u="sng" dirty="0"/>
              <a:t>    score = score + 1</a:t>
            </a:r>
          </a:p>
          <a:p>
            <a:pPr marL="0" indent="0">
              <a:buNone/>
            </a:pPr>
            <a:r>
              <a:rPr lang="fr-FR" u="sng" dirty="0"/>
              <a:t>FIN SI</a:t>
            </a:r>
          </a:p>
          <a:p>
            <a:pPr marL="0" indent="0">
              <a:buNone/>
            </a:pPr>
            <a:r>
              <a:rPr lang="fr-FR" u="sng" dirty="0"/>
              <a:t>SI score &gt;= 2 ALORS</a:t>
            </a:r>
          </a:p>
          <a:p>
            <a:pPr marL="0" indent="0">
              <a:buNone/>
            </a:pPr>
            <a:r>
              <a:rPr lang="fr-FR" u="sng" dirty="0"/>
              <a:t>    afficher "Anomalie détectée"</a:t>
            </a:r>
          </a:p>
          <a:p>
            <a:pPr marL="0" indent="0">
              <a:buNone/>
            </a:pPr>
            <a:r>
              <a:rPr lang="fr-FR" u="sng" dirty="0"/>
              <a:t>SINON</a:t>
            </a:r>
          </a:p>
          <a:p>
            <a:pPr marL="0" indent="0">
              <a:buNone/>
            </a:pPr>
            <a:r>
              <a:rPr lang="fr-FR" u="sng" dirty="0"/>
              <a:t>    afficher "Normal"</a:t>
            </a:r>
          </a:p>
          <a:p>
            <a:pPr marL="0" indent="0">
              <a:buNone/>
            </a:pPr>
            <a:r>
              <a:rPr lang="fr-FR" u="sng" dirty="0"/>
              <a:t>FIN SI</a:t>
            </a:r>
          </a:p>
          <a:p>
            <a:pPr marL="0" indent="0">
              <a:buNone/>
            </a:pPr>
            <a:r>
              <a:rPr lang="fr-FR" u="sng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1378167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A11D0-1B4D-4A2D-A8C7-A1DD8DD64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341AD-8E43-45AC-93C6-E94555938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0400"/>
            <a:ext cx="9603275" cy="4123081"/>
          </a:xfrm>
        </p:spPr>
        <p:txBody>
          <a:bodyPr>
            <a:normAutofit fontScale="55000" lnSpcReduction="20000"/>
          </a:bodyPr>
          <a:lstStyle/>
          <a:p>
            <a:pPr marL="457200" indent="-457200">
              <a:buAutoNum type="arabicPeriod"/>
            </a:pPr>
            <a:r>
              <a:rPr lang="fr-FR" dirty="0"/>
              <a:t>Algorithmes de détection d’anomalies</a:t>
            </a:r>
          </a:p>
          <a:p>
            <a:pPr>
              <a:buFontTx/>
              <a:buChar char="-"/>
            </a:pPr>
            <a:r>
              <a:rPr lang="fr-FR" dirty="0"/>
              <a:t>Détection avec apprentissage (concept simple)</a:t>
            </a:r>
          </a:p>
          <a:p>
            <a:pPr marL="0" indent="0">
              <a:buNone/>
            </a:pPr>
            <a:r>
              <a:rPr lang="fr-FR" b="1" dirty="0"/>
              <a:t>Principe : </a:t>
            </a:r>
            <a:r>
              <a:rPr lang="fr-FR" dirty="0"/>
              <a:t>Comparer avec des données normales apprises.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DEBUT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charger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modele_normal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lire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nouvelles_donnees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erreur =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modele_normal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-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</a:rPr>
              <a:t>nouvelles_donnees</a:t>
            </a: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SI erreur &gt; seuil ALORS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   afficher "Anomalie"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SINON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    afficher "Normal"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FIN SI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1975916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BB90E-77A5-46BF-84F2-D654AE0DE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6EA66-0C2B-40A7-849E-3600B4385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fr-FR" dirty="0"/>
              <a:t>Algorithmes de prédiction (Machine Learning)</a:t>
            </a:r>
          </a:p>
          <a:p>
            <a:pPr marL="0" indent="0">
              <a:buNone/>
            </a:pPr>
            <a:r>
              <a:rPr lang="fr-FR" dirty="0"/>
              <a:t>Les algorithmes de prédiction permettent d’</a:t>
            </a:r>
            <a:r>
              <a:rPr lang="fr-FR" b="1" dirty="0"/>
              <a:t>anticiper les événements futurs</a:t>
            </a:r>
            <a:r>
              <a:rPr lang="fr-FR" dirty="0"/>
              <a:t> en se basant sur les </a:t>
            </a:r>
            <a:r>
              <a:rPr lang="fr-FR" b="1" dirty="0"/>
              <a:t>données historiques et actuelles</a:t>
            </a:r>
            <a:r>
              <a:rPr lang="fr-FR" dirty="0"/>
              <a:t> du réseau.</a:t>
            </a:r>
          </a:p>
        </p:txBody>
      </p:sp>
    </p:spTree>
    <p:extLst>
      <p:ext uri="{BB962C8B-B14F-4D97-AF65-F5344CB8AC3E}">
        <p14:creationId xmlns:p14="http://schemas.microsoft.com/office/powerpoint/2010/main" val="2565100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F9BD-8E7C-4554-8306-F7AED9FA7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D8653-8072-4C3A-9AF7-EC4A53525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729286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1. Régression linéaire (prédiction simple)</a:t>
            </a:r>
          </a:p>
          <a:p>
            <a:r>
              <a:rPr lang="fr-FR" b="1" dirty="0"/>
              <a:t>Principe</a:t>
            </a:r>
          </a:p>
          <a:p>
            <a:r>
              <a:rPr lang="fr-FR" dirty="0"/>
              <a:t>Prédire une valeur future (ex : consommation d’eau) à partir d’une tendance.</a:t>
            </a:r>
          </a:p>
          <a:p>
            <a:pPr marL="0" indent="0">
              <a:buNone/>
            </a:pPr>
            <a:r>
              <a:rPr lang="fr-FR" b="1" dirty="0"/>
              <a:t>Exemple : </a:t>
            </a:r>
            <a:r>
              <a:rPr lang="fr-FR" dirty="0"/>
              <a:t>Prévoir la consommation d’eau demain.</a:t>
            </a:r>
          </a:p>
          <a:p>
            <a:pPr marL="0" indent="0">
              <a:buNone/>
            </a:pPr>
            <a:r>
              <a:rPr lang="fr-FR" dirty="0"/>
              <a:t>Utilisation :</a:t>
            </a:r>
          </a:p>
          <a:p>
            <a:r>
              <a:rPr lang="fr-FR" dirty="0"/>
              <a:t>prévoir la </a:t>
            </a:r>
            <a:r>
              <a:rPr lang="fr-FR" b="1" dirty="0"/>
              <a:t>demande en eau</a:t>
            </a:r>
            <a:r>
              <a:rPr lang="fr-FR" dirty="0"/>
              <a:t> </a:t>
            </a:r>
          </a:p>
          <a:p>
            <a:r>
              <a:rPr lang="fr-FR" dirty="0"/>
              <a:t>anticiper les périodes de forte consommation</a:t>
            </a:r>
          </a:p>
        </p:txBody>
      </p:sp>
    </p:spTree>
    <p:extLst>
      <p:ext uri="{BB962C8B-B14F-4D97-AF65-F5344CB8AC3E}">
        <p14:creationId xmlns:p14="http://schemas.microsoft.com/office/powerpoint/2010/main" val="1898607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D466A-29C7-4B6A-8A33-86F97C2B0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A76B8-0E50-4B92-A6B4-3A63B5401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2. Prédiction de panne (classification)</a:t>
            </a:r>
          </a:p>
          <a:p>
            <a:pPr marL="0" indent="0">
              <a:buNone/>
            </a:pPr>
            <a:r>
              <a:rPr lang="fr-FR" b="1" dirty="0"/>
              <a:t>Principe : </a:t>
            </a:r>
            <a:r>
              <a:rPr lang="fr-FR" dirty="0"/>
              <a:t>Prédire si une panne va arriver (OUI / NON).</a:t>
            </a:r>
          </a:p>
          <a:p>
            <a:pPr marL="0" indent="0">
              <a:buNone/>
            </a:pPr>
            <a:r>
              <a:rPr lang="fr-FR" dirty="0"/>
              <a:t>Utilisation :</a:t>
            </a:r>
          </a:p>
          <a:p>
            <a:r>
              <a:rPr lang="fr-FR" dirty="0"/>
              <a:t>maintenance prédictive </a:t>
            </a:r>
          </a:p>
          <a:p>
            <a:r>
              <a:rPr lang="fr-FR" dirty="0"/>
              <a:t>réduction des interruptions d’eau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4125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FBCE4-8E64-4549-88A0-39775FFB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E66E-E087-404D-BA63-656EA39C0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3. Prédiction basée sur séries temporelles</a:t>
            </a:r>
          </a:p>
          <a:p>
            <a:pPr marL="0" indent="0">
              <a:buNone/>
            </a:pPr>
            <a:r>
              <a:rPr lang="fr-FR" b="1" dirty="0"/>
              <a:t>Principe : </a:t>
            </a:r>
            <a:r>
              <a:rPr lang="fr-FR" dirty="0"/>
              <a:t>Analyser l’évolution des données dans le temps.</a:t>
            </a:r>
          </a:p>
          <a:p>
            <a:pPr marL="0" indent="0">
              <a:buNone/>
            </a:pPr>
            <a:r>
              <a:rPr lang="fr-FR" dirty="0"/>
              <a:t>Exemple :</a:t>
            </a:r>
          </a:p>
          <a:p>
            <a:r>
              <a:rPr lang="fr-FR" dirty="0"/>
              <a:t>consommation d’eau par heure </a:t>
            </a:r>
          </a:p>
          <a:p>
            <a:r>
              <a:rPr lang="fr-FR" dirty="0"/>
              <a:t>pression dans la journée</a:t>
            </a:r>
          </a:p>
        </p:txBody>
      </p:sp>
    </p:spTree>
    <p:extLst>
      <p:ext uri="{BB962C8B-B14F-4D97-AF65-F5344CB8AC3E}">
        <p14:creationId xmlns:p14="http://schemas.microsoft.com/office/powerpoint/2010/main" val="3326883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0D7F5-E476-4741-8158-4A21BB200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33E19-48F5-4919-B454-13FDFE2A1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4. Réseau de neurones (IA avancée)</a:t>
            </a:r>
          </a:p>
          <a:p>
            <a:pPr marL="0" indent="0">
              <a:buNone/>
            </a:pPr>
            <a:r>
              <a:rPr lang="fr-FR" b="1" dirty="0"/>
              <a:t>Principe : </a:t>
            </a:r>
            <a:r>
              <a:rPr lang="fr-FR" dirty="0"/>
              <a:t>Apprendre des relations complexes entre plusieurs variables.</a:t>
            </a:r>
          </a:p>
          <a:p>
            <a:pPr marL="0" indent="0">
              <a:buNone/>
            </a:pPr>
            <a:r>
              <a:rPr lang="fr-FR" dirty="0"/>
              <a:t>Utilisation :</a:t>
            </a:r>
          </a:p>
          <a:p>
            <a:r>
              <a:rPr lang="fr-FR" dirty="0"/>
              <a:t>prédictions très précises </a:t>
            </a:r>
          </a:p>
          <a:p>
            <a:r>
              <a:rPr lang="fr-FR" dirty="0"/>
              <a:t>systèmes complexes avec plusieurs facteurs</a:t>
            </a:r>
          </a:p>
        </p:txBody>
      </p:sp>
    </p:spTree>
    <p:extLst>
      <p:ext uri="{BB962C8B-B14F-4D97-AF65-F5344CB8AC3E}">
        <p14:creationId xmlns:p14="http://schemas.microsoft.com/office/powerpoint/2010/main" val="1390176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90C50-7E18-4B5E-80C8-CF1BF9A8F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0670-1B01-4192-84C0-E3834E440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69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5. Prédiction combinée (cas réel intelligent)</a:t>
            </a:r>
          </a:p>
          <a:p>
            <a:pPr marL="0" indent="0">
              <a:buNone/>
            </a:pPr>
            <a:r>
              <a:rPr lang="fr-FR" b="1" dirty="0"/>
              <a:t>Principe : </a:t>
            </a:r>
            <a:r>
              <a:rPr lang="fr-FR" dirty="0"/>
              <a:t>Combiner plusieurs données pour une meilleure précision.</a:t>
            </a:r>
          </a:p>
          <a:p>
            <a:pPr marL="0" indent="0">
              <a:buNone/>
            </a:pPr>
            <a:endParaRPr lang="fr-FR" sz="100" dirty="0"/>
          </a:p>
          <a:p>
            <a:pPr marL="0" indent="0">
              <a:buNone/>
            </a:pPr>
            <a:r>
              <a:rPr lang="fr-FR" dirty="0"/>
              <a:t>Les algorithmes de prédiction permettent de :</a:t>
            </a:r>
          </a:p>
          <a:p>
            <a:r>
              <a:rPr lang="fr-FR" dirty="0"/>
              <a:t>anticiper les </a:t>
            </a:r>
            <a:r>
              <a:rPr lang="fr-FR" b="1" dirty="0"/>
              <a:t>pannes du réseau</a:t>
            </a:r>
            <a:r>
              <a:rPr lang="fr-FR" dirty="0"/>
              <a:t> </a:t>
            </a:r>
          </a:p>
          <a:p>
            <a:r>
              <a:rPr lang="fr-FR" dirty="0"/>
              <a:t>prévoir la </a:t>
            </a:r>
            <a:r>
              <a:rPr lang="fr-FR" b="1" dirty="0"/>
              <a:t>consommation d’eau</a:t>
            </a:r>
            <a:r>
              <a:rPr lang="fr-FR" dirty="0"/>
              <a:t> </a:t>
            </a:r>
          </a:p>
          <a:p>
            <a:r>
              <a:rPr lang="fr-FR" dirty="0"/>
              <a:t>améliorer la </a:t>
            </a:r>
            <a:r>
              <a:rPr lang="fr-FR" b="1" dirty="0"/>
              <a:t>planification</a:t>
            </a:r>
            <a:r>
              <a:rPr lang="fr-FR" dirty="0"/>
              <a:t> </a:t>
            </a:r>
          </a:p>
          <a:p>
            <a:r>
              <a:rPr lang="fr-FR" dirty="0"/>
              <a:t>réduire les </a:t>
            </a:r>
            <a:r>
              <a:rPr lang="fr-FR" b="1" dirty="0"/>
              <a:t>coûts de maintenance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63137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79026-2DF3-477F-A9B3-F06CB0749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E2543-92BF-4811-A68D-6F12807D0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2325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fr-FR" dirty="0"/>
              <a:t>Algorithmes d’optimisation</a:t>
            </a:r>
          </a:p>
          <a:p>
            <a:pPr marL="0" indent="0">
              <a:buNone/>
            </a:pPr>
            <a:r>
              <a:rPr lang="fr-FR" b="1" dirty="0"/>
              <a:t>Objectif des algorithmes d’optimisation</a:t>
            </a:r>
          </a:p>
          <a:p>
            <a:r>
              <a:rPr lang="fr-FR" b="1" dirty="0"/>
              <a:t>réduire les pertes d’eau</a:t>
            </a:r>
            <a:r>
              <a:rPr lang="fr-FR" dirty="0"/>
              <a:t> </a:t>
            </a:r>
          </a:p>
          <a:p>
            <a:r>
              <a:rPr lang="fr-FR" b="1" dirty="0"/>
              <a:t>minimiser les coûts (énergie, maintenance)</a:t>
            </a:r>
            <a:r>
              <a:rPr lang="fr-FR" dirty="0"/>
              <a:t> </a:t>
            </a:r>
          </a:p>
          <a:p>
            <a:r>
              <a:rPr lang="fr-FR" b="1" dirty="0"/>
              <a:t>assurer une distribution équilibrée</a:t>
            </a:r>
            <a:r>
              <a:rPr lang="fr-FR" dirty="0"/>
              <a:t> </a:t>
            </a:r>
          </a:p>
          <a:p>
            <a:r>
              <a:rPr lang="fr-FR" b="1" dirty="0"/>
              <a:t>garantir une pression stable dans tout le réseau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dirty="0"/>
              <a:t>Faire fonctionner le réseau </a:t>
            </a:r>
            <a:r>
              <a:rPr lang="fr-FR" b="1" dirty="0"/>
              <a:t>de manière efficace et intelligente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1725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D9AEB-415D-4543-8B90-B0B9F58C7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6A4A6-49BF-48CE-9B2D-224C3CA96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32486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fr-FR" dirty="0"/>
              <a:t>Algorithmes d’optimisation</a:t>
            </a:r>
          </a:p>
          <a:p>
            <a:pPr marL="0" indent="0">
              <a:buNone/>
            </a:pPr>
            <a:r>
              <a:rPr lang="fr-FR" b="1" dirty="0"/>
              <a:t>Types d’algorithmes d’optimisation</a:t>
            </a:r>
          </a:p>
          <a:p>
            <a:pPr marL="0" indent="0">
              <a:buNone/>
            </a:pPr>
            <a:r>
              <a:rPr lang="fr-FR" b="1" dirty="0"/>
              <a:t>a) Optimisation de la pression</a:t>
            </a:r>
          </a:p>
          <a:p>
            <a:pPr marL="0" indent="0">
              <a:buNone/>
            </a:pPr>
            <a:r>
              <a:rPr lang="fr-FR" b="1" dirty="0"/>
              <a:t>Principe : </a:t>
            </a:r>
            <a:r>
              <a:rPr lang="fr-FR" dirty="0"/>
              <a:t>Ajuster la pression dans les conduites pour éviter :</a:t>
            </a:r>
          </a:p>
          <a:p>
            <a:r>
              <a:rPr lang="fr-FR" dirty="0"/>
              <a:t>les fuites (pression trop élevée) </a:t>
            </a:r>
          </a:p>
          <a:p>
            <a:r>
              <a:rPr lang="fr-FR" dirty="0"/>
              <a:t>le manque d’eau (pression trop faible) </a:t>
            </a:r>
          </a:p>
          <a:p>
            <a:pPr marL="0" indent="0">
              <a:buNone/>
            </a:pPr>
            <a:r>
              <a:rPr lang="fr-FR" b="1" dirty="0"/>
              <a:t>Exemple</a:t>
            </a:r>
          </a:p>
          <a:p>
            <a:r>
              <a:rPr lang="fr-FR" dirty="0"/>
              <a:t>Réduire la pression la nuit (faible consommation) </a:t>
            </a:r>
          </a:p>
          <a:p>
            <a:r>
              <a:rPr lang="fr-FR" dirty="0"/>
              <a:t>Augmenter la pression aux heures de pointe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53708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6A2E-D22A-4D76-BE3B-B0E224208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1C658-97D9-45A4-B596-048CE86D5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b) Optimisation énergétique</a:t>
            </a:r>
          </a:p>
          <a:p>
            <a:pPr marL="0" indent="0">
              <a:buNone/>
            </a:pPr>
            <a:r>
              <a:rPr lang="fr-FR" b="1" dirty="0"/>
              <a:t>Principe : </a:t>
            </a:r>
            <a:r>
              <a:rPr lang="fr-FR" dirty="0"/>
              <a:t>Minimiser la consommation d’énergie des pompes.</a:t>
            </a:r>
          </a:p>
          <a:p>
            <a:pPr marL="0" indent="0">
              <a:buNone/>
            </a:pPr>
            <a:r>
              <a:rPr lang="fr-FR" b="1" dirty="0"/>
              <a:t>Exemple</a:t>
            </a:r>
          </a:p>
          <a:p>
            <a:r>
              <a:rPr lang="fr-FR" dirty="0"/>
              <a:t>Faire fonctionner les pompes pendant les heures où l’électricité est moins coûteuse </a:t>
            </a:r>
          </a:p>
          <a:p>
            <a:r>
              <a:rPr lang="fr-FR" dirty="0"/>
              <a:t>Éviter le fonctionnement inutile des pompes</a:t>
            </a:r>
          </a:p>
        </p:txBody>
      </p:sp>
    </p:spTree>
    <p:extLst>
      <p:ext uri="{BB962C8B-B14F-4D97-AF65-F5344CB8AC3E}">
        <p14:creationId xmlns:p14="http://schemas.microsoft.com/office/powerpoint/2010/main" val="26281155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17271-2727-49C1-AE6C-0A9FA19AF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F11E2-1834-4551-8748-32BBC5176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c) Optimisation de la distribution</a:t>
            </a:r>
          </a:p>
          <a:p>
            <a:pPr marL="0" indent="0">
              <a:buNone/>
            </a:pPr>
            <a:r>
              <a:rPr lang="fr-FR" b="1" dirty="0"/>
              <a:t>Principe : </a:t>
            </a:r>
            <a:r>
              <a:rPr lang="fr-FR" dirty="0"/>
              <a:t>Répartir l’eau de manière équilibrée dans tous les quartiers.</a:t>
            </a:r>
          </a:p>
          <a:p>
            <a:pPr marL="0" indent="0">
              <a:buNone/>
            </a:pPr>
            <a:r>
              <a:rPr lang="fr-FR" b="1" dirty="0"/>
              <a:t>Exemple</a:t>
            </a:r>
          </a:p>
          <a:p>
            <a:r>
              <a:rPr lang="fr-FR" dirty="0"/>
              <a:t>Donner plus d’eau aux zones à forte demande </a:t>
            </a:r>
          </a:p>
          <a:p>
            <a:r>
              <a:rPr lang="fr-FR" dirty="0"/>
              <a:t>Éviter que certains quartiers soient suralimentés et d’autres sous-alimentés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19614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4E63-A69E-43F4-BEAA-5D11B35C5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6D385-F31B-46DC-8670-2EF4C7BAF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d) Optimisation de la maintenance</a:t>
            </a:r>
          </a:p>
          <a:p>
            <a:pPr marL="0" indent="0">
              <a:buNone/>
            </a:pPr>
            <a:r>
              <a:rPr lang="fr-FR" b="1" dirty="0"/>
              <a:t>Principe : </a:t>
            </a:r>
            <a:r>
              <a:rPr lang="fr-FR" dirty="0"/>
              <a:t>Planifier les réparations au bon moment.</a:t>
            </a:r>
          </a:p>
          <a:p>
            <a:pPr marL="0" indent="0">
              <a:buNone/>
            </a:pPr>
            <a:r>
              <a:rPr lang="fr-FR" b="1" dirty="0"/>
              <a:t>Exemple</a:t>
            </a:r>
          </a:p>
          <a:p>
            <a:r>
              <a:rPr lang="fr-FR" dirty="0"/>
              <a:t>Réparer une conduite avant qu’elle ne casse complètement </a:t>
            </a:r>
          </a:p>
          <a:p>
            <a:r>
              <a:rPr lang="fr-FR" dirty="0"/>
              <a:t>Prioriser les zones à haut risque</a:t>
            </a:r>
          </a:p>
        </p:txBody>
      </p:sp>
    </p:spTree>
    <p:extLst>
      <p:ext uri="{BB962C8B-B14F-4D97-AF65-F5344CB8AC3E}">
        <p14:creationId xmlns:p14="http://schemas.microsoft.com/office/powerpoint/2010/main" val="29333231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99956-1B10-4740-AB00-FE2D58D54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572FC-17E7-4FBC-BA94-181AB8122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e) Optimisation du stockage (réservoirs)</a:t>
            </a:r>
          </a:p>
          <a:p>
            <a:pPr marL="0" indent="0">
              <a:buNone/>
            </a:pPr>
            <a:r>
              <a:rPr lang="fr-FR" b="1" dirty="0"/>
              <a:t>Principe : </a:t>
            </a:r>
            <a:r>
              <a:rPr lang="fr-FR" dirty="0"/>
              <a:t>Gérer efficacement les niveaux d’eau dans les réservoirs.</a:t>
            </a:r>
          </a:p>
          <a:p>
            <a:pPr marL="0" indent="0">
              <a:buNone/>
            </a:pPr>
            <a:r>
              <a:rPr lang="fr-FR" b="1" dirty="0"/>
              <a:t>Exemple</a:t>
            </a:r>
          </a:p>
          <a:p>
            <a:r>
              <a:rPr lang="fr-FR" dirty="0"/>
              <a:t>Remplir les réservoirs pendant les heures creuses </a:t>
            </a:r>
          </a:p>
          <a:p>
            <a:r>
              <a:rPr lang="fr-FR" dirty="0"/>
              <a:t>Éviter le débordement ou le manque d’eau</a:t>
            </a:r>
          </a:p>
        </p:txBody>
      </p:sp>
    </p:spTree>
    <p:extLst>
      <p:ext uri="{BB962C8B-B14F-4D97-AF65-F5344CB8AC3E}">
        <p14:creationId xmlns:p14="http://schemas.microsoft.com/office/powerpoint/2010/main" val="40846458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19EE4-4950-4EE9-93FE-DDAD9FCA2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942E3-F88E-4F2A-BF8F-4486DEFA5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fr-FR" dirty="0"/>
              <a:t>Algorithmes de simulation hydraulique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931405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183</TotalTime>
  <Words>1553</Words>
  <Application>Microsoft Office PowerPoint</Application>
  <PresentationFormat>Widescreen</PresentationFormat>
  <Paragraphs>253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Gill Sans MT</vt:lpstr>
      <vt:lpstr>Gallery</vt:lpstr>
      <vt:lpstr>PROJET TUTORE BAC 3</vt:lpstr>
      <vt:lpstr>1. Architecture Globale du Système</vt:lpstr>
      <vt:lpstr>1. Architecture Globale du Système</vt:lpstr>
      <vt:lpstr>1. Architecture Globale du Système 1.  Vue d’ensemble du système </vt:lpstr>
      <vt:lpstr>1. Architecture Globale du Système 1.  Vue d’ensemble du système </vt:lpstr>
      <vt:lpstr>1. Architecture Globale du Système 1.  Vue d’ensemble du système </vt:lpstr>
      <vt:lpstr>1. Architecture Globale du Système 1.  Vue d’ensemble du système</vt:lpstr>
      <vt:lpstr>1. Architecture Globale du Système</vt:lpstr>
      <vt:lpstr>1. Architecture Globale du Système</vt:lpstr>
      <vt:lpstr>2.  Les algorithmes</vt:lpstr>
      <vt:lpstr>2.  Les algorithmes</vt:lpstr>
      <vt:lpstr>2.  Les algorithmes</vt:lpstr>
      <vt:lpstr>2.  Les algorithmes</vt:lpstr>
      <vt:lpstr>2.  Les algorithmes</vt:lpstr>
      <vt:lpstr>2.  Les algorithmes</vt:lpstr>
      <vt:lpstr>2.  Les algorithmes</vt:lpstr>
      <vt:lpstr>2.  Les algorithmes</vt:lpstr>
      <vt:lpstr>2.  Les algorithmes</vt:lpstr>
      <vt:lpstr>PowerPoint Presentation</vt:lpstr>
      <vt:lpstr>2.  Les algorithmes</vt:lpstr>
      <vt:lpstr>2.  Les algorithmes</vt:lpstr>
      <vt:lpstr>2.  Les algorithmes</vt:lpstr>
      <vt:lpstr>2.  Les algorithmes</vt:lpstr>
      <vt:lpstr>2.  Les algorithmes</vt:lpstr>
      <vt:lpstr>2.  Les algorithmes</vt:lpstr>
      <vt:lpstr>2.  Les algorithmes</vt:lpstr>
      <vt:lpstr>2.  Les algorithmes</vt:lpstr>
      <vt:lpstr>2.  Les algorithmes</vt:lpstr>
      <vt:lpstr>2.  Les algorithmes</vt:lpstr>
      <vt:lpstr>2.  Les algorithmes</vt:lpstr>
      <vt:lpstr>2.  Les algorithmes</vt:lpstr>
      <vt:lpstr>2.  Les algorithmes</vt:lpstr>
      <vt:lpstr>2.  Les algorithmes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TUTORE BAC 3</dc:title>
  <dc:creator>Landry Mushagalusa</dc:creator>
  <cp:lastModifiedBy>Landry Mushagalusa</cp:lastModifiedBy>
  <cp:revision>105</cp:revision>
  <dcterms:created xsi:type="dcterms:W3CDTF">2026-03-17T09:16:10Z</dcterms:created>
  <dcterms:modified xsi:type="dcterms:W3CDTF">2026-04-06T06:24:56Z</dcterms:modified>
</cp:coreProperties>
</file>