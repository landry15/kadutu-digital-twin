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987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977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6688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330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955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6970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7891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4005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4A75FF3-287D-4EF3-90BA-1F7B57D98EBD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391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483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75FF3-287D-4EF3-90BA-1F7B57D98EBD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1508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75FF3-287D-4EF3-90BA-1F7B57D98EBD}" type="datetimeFigureOut">
              <a:rPr lang="fr-FR" smtClean="0"/>
              <a:t>18/05/2026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C9FDBB5-CFA3-48FE-BBBE-D54EF9AEFC8D}" type="slidenum">
              <a:rPr lang="fr-FR" smtClean="0"/>
              <a:t>‹#›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82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E607C-BAA5-495A-B8E9-C0BC60570B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6000" dirty="0"/>
              <a:t>PROJET TUTORE BAC 3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D6C0047-9F07-4BDB-BFDC-F8D250CD78CB}"/>
              </a:ext>
            </a:extLst>
          </p:cNvPr>
          <p:cNvSpPr txBox="1">
            <a:spLocks/>
          </p:cNvSpPr>
          <p:nvPr/>
        </p:nvSpPr>
        <p:spPr>
          <a:xfrm>
            <a:off x="1676400" y="358818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Jumelle digitale avec IA pour optimiser le déploiement et la maintenance du réseau de fourniture d'eau potable de la ville de Bukavu.</a:t>
            </a:r>
            <a:endParaRPr lang="fr-FR" sz="1800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BFF6293-53B2-4376-9441-1F2D93B1B9DB}"/>
              </a:ext>
            </a:extLst>
          </p:cNvPr>
          <p:cNvSpPr txBox="1">
            <a:spLocks/>
          </p:cNvSpPr>
          <p:nvPr/>
        </p:nvSpPr>
        <p:spPr>
          <a:xfrm>
            <a:off x="1524000" y="6287652"/>
            <a:ext cx="8442036" cy="325437"/>
          </a:xfrm>
          <a:prstGeom prst="rect">
            <a:avLst/>
          </a:prstGeom>
        </p:spPr>
        <p:txBody>
          <a:bodyPr vert="horz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</a:p>
        </p:txBody>
      </p:sp>
    </p:spTree>
    <p:extLst>
      <p:ext uri="{BB962C8B-B14F-4D97-AF65-F5344CB8AC3E}">
        <p14:creationId xmlns:p14="http://schemas.microsoft.com/office/powerpoint/2010/main" val="1892566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A6FEB-1463-4445-9B97-6C8774AE8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Architecture Globale du Système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03C5177-9B56-48A9-895B-C0900898F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L’</a:t>
            </a:r>
            <a:r>
              <a:rPr lang="fr-FR" b="1" dirty="0"/>
              <a:t>architecture globale du système</a:t>
            </a:r>
            <a:r>
              <a:rPr lang="fr-FR" dirty="0"/>
              <a:t> décrit comment tous les composants (capteurs, réseau, serveur, intelligence artificielle, interface utilisateur) sont organisés et interagissent pour faire fonctionner la </a:t>
            </a:r>
            <a:r>
              <a:rPr lang="fr-FR" b="1" dirty="0"/>
              <a:t>jumelle digitale du réseau d’eau potable</a:t>
            </a:r>
            <a:r>
              <a:rPr lang="fr-FR" dirty="0"/>
              <a:t> de la ville de Bukavu.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A6A8C8D-74D0-4D57-B8F8-ADC4621B9A19}"/>
              </a:ext>
            </a:extLst>
          </p:cNvPr>
          <p:cNvSpPr txBox="1">
            <a:spLocks/>
          </p:cNvSpPr>
          <p:nvPr/>
        </p:nvSpPr>
        <p:spPr>
          <a:xfrm>
            <a:off x="1524000" y="6287652"/>
            <a:ext cx="8442036" cy="325437"/>
          </a:xfrm>
          <a:prstGeom prst="rect">
            <a:avLst/>
          </a:prstGeom>
        </p:spPr>
        <p:txBody>
          <a:bodyPr vert="horz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</a:p>
        </p:txBody>
      </p:sp>
    </p:spTree>
    <p:extLst>
      <p:ext uri="{BB962C8B-B14F-4D97-AF65-F5344CB8AC3E}">
        <p14:creationId xmlns:p14="http://schemas.microsoft.com/office/powerpoint/2010/main" val="1599154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E99FF-B314-4AAE-B54E-1E5070620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Architecture Globale du Système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C450F-3826-4F72-B107-B45C6084D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1.  Vue d’ensemble du système</a:t>
            </a:r>
          </a:p>
          <a:p>
            <a:pPr marL="0" indent="0">
              <a:buNone/>
            </a:pPr>
            <a:r>
              <a:rPr lang="fr-FR" dirty="0"/>
              <a:t>Le système est structuré en </a:t>
            </a:r>
            <a:r>
              <a:rPr lang="fr-FR" b="1" dirty="0"/>
              <a:t>plusieurs couches (ou niveaux)</a:t>
            </a:r>
            <a:r>
              <a:rPr lang="fr-FR" dirty="0"/>
              <a:t> :</a:t>
            </a:r>
          </a:p>
          <a:p>
            <a:r>
              <a:rPr lang="fr-FR" b="1" dirty="0"/>
              <a:t>Couche physique (terrain)</a:t>
            </a:r>
            <a:r>
              <a:rPr lang="fr-FR" dirty="0"/>
              <a:t> </a:t>
            </a:r>
          </a:p>
          <a:p>
            <a:r>
              <a:rPr lang="fr-FR" b="1" dirty="0"/>
              <a:t>Couche communication (réseau)</a:t>
            </a:r>
            <a:r>
              <a:rPr lang="fr-FR" dirty="0"/>
              <a:t> </a:t>
            </a:r>
          </a:p>
          <a:p>
            <a:r>
              <a:rPr lang="fr-FR" b="1" dirty="0"/>
              <a:t>Couche traitement (serveur et IA)</a:t>
            </a:r>
            <a:r>
              <a:rPr lang="fr-FR" dirty="0"/>
              <a:t> </a:t>
            </a:r>
          </a:p>
          <a:p>
            <a:r>
              <a:rPr lang="fr-FR" b="1" dirty="0"/>
              <a:t>Couche application (interface utilisateur)</a:t>
            </a:r>
            <a:r>
              <a:rPr lang="fr-FR" dirty="0"/>
              <a:t> 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F1BE66F-8DB0-4884-84CB-3AE05E128237}"/>
              </a:ext>
            </a:extLst>
          </p:cNvPr>
          <p:cNvSpPr txBox="1">
            <a:spLocks/>
          </p:cNvSpPr>
          <p:nvPr/>
        </p:nvSpPr>
        <p:spPr>
          <a:xfrm>
            <a:off x="1524000" y="6287652"/>
            <a:ext cx="8442036" cy="325437"/>
          </a:xfrm>
          <a:prstGeom prst="rect">
            <a:avLst/>
          </a:prstGeom>
        </p:spPr>
        <p:txBody>
          <a:bodyPr vert="horz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</a:p>
        </p:txBody>
      </p:sp>
    </p:spTree>
    <p:extLst>
      <p:ext uri="{BB962C8B-B14F-4D97-AF65-F5344CB8AC3E}">
        <p14:creationId xmlns:p14="http://schemas.microsoft.com/office/powerpoint/2010/main" val="3087593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AF42A-28F8-4E26-8BBF-FD1FE2329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fr-FR" dirty="0"/>
              <a:t>1. Architecture Globale du Système</a:t>
            </a:r>
            <a:br>
              <a:rPr lang="fr-FR" dirty="0"/>
            </a:br>
            <a:r>
              <a:rPr lang="fr-FR" sz="2000" dirty="0">
                <a:solidFill>
                  <a:srgbClr val="C00000"/>
                </a:solidFill>
              </a:rPr>
              <a:t>1.  Vue d’ensemble du système</a:t>
            </a:r>
            <a:br>
              <a:rPr lang="fr-FR" dirty="0"/>
            </a:b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6D2E4-DD04-4CF0-B641-F04279DE0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A. Couche physique (Capteurs &amp; équipements)</a:t>
            </a:r>
          </a:p>
          <a:p>
            <a:pPr marL="0" indent="0">
              <a:buNone/>
            </a:pPr>
            <a:r>
              <a:rPr lang="fr-FR" dirty="0"/>
              <a:t>C’est la base du système, où l’on trouve :</a:t>
            </a:r>
          </a:p>
          <a:p>
            <a:r>
              <a:rPr lang="fr-FR" dirty="0"/>
              <a:t>les </a:t>
            </a:r>
            <a:r>
              <a:rPr lang="fr-FR" b="1" dirty="0"/>
              <a:t>capteurs</a:t>
            </a:r>
            <a:r>
              <a:rPr lang="fr-FR" dirty="0"/>
              <a:t> (pression, débit, qualité, niveau, fuite) </a:t>
            </a:r>
          </a:p>
          <a:p>
            <a:r>
              <a:rPr lang="fr-FR" dirty="0"/>
              <a:t>les </a:t>
            </a:r>
            <a:r>
              <a:rPr lang="fr-FR" b="1" dirty="0"/>
              <a:t>équipements hydrauliques</a:t>
            </a:r>
            <a:r>
              <a:rPr lang="fr-FR" dirty="0"/>
              <a:t> (pompes, vannes, réservoirs) </a:t>
            </a:r>
          </a:p>
          <a:p>
            <a:pPr marL="0" indent="0">
              <a:buNone/>
            </a:pPr>
            <a:r>
              <a:rPr lang="fr-FR" dirty="0"/>
              <a:t>Rôle : Collecter les </a:t>
            </a:r>
            <a:r>
              <a:rPr lang="fr-FR" b="1" dirty="0"/>
              <a:t>données réelles du réseau d’eau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FF67078-48D8-4012-956F-04D4A7CB831B}"/>
              </a:ext>
            </a:extLst>
          </p:cNvPr>
          <p:cNvSpPr txBox="1">
            <a:spLocks/>
          </p:cNvSpPr>
          <p:nvPr/>
        </p:nvSpPr>
        <p:spPr>
          <a:xfrm>
            <a:off x="1524000" y="6287652"/>
            <a:ext cx="8442036" cy="325437"/>
          </a:xfrm>
          <a:prstGeom prst="rect">
            <a:avLst/>
          </a:prstGeom>
        </p:spPr>
        <p:txBody>
          <a:bodyPr vert="horz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</a:p>
        </p:txBody>
      </p:sp>
    </p:spTree>
    <p:extLst>
      <p:ext uri="{BB962C8B-B14F-4D97-AF65-F5344CB8AC3E}">
        <p14:creationId xmlns:p14="http://schemas.microsoft.com/office/powerpoint/2010/main" val="4264266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572AF-9B78-4BAF-8F6B-E62630AA0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1. Architecture Globale du Système</a:t>
            </a:r>
            <a:br>
              <a:rPr lang="fr-FR" dirty="0"/>
            </a:br>
            <a:r>
              <a:rPr lang="fr-FR" sz="2000" dirty="0">
                <a:solidFill>
                  <a:srgbClr val="C00000"/>
                </a:solidFill>
              </a:rPr>
              <a:t>1.  Vue d’ensemble du système</a:t>
            </a:r>
            <a:br>
              <a:rPr lang="fr-FR" dirty="0"/>
            </a:b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84DC-C546-429D-AC36-580105ABE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/>
              <a:t>B. Couche communication (IoT)</a:t>
            </a:r>
          </a:p>
          <a:p>
            <a:pPr marL="0" indent="0">
              <a:buNone/>
            </a:pPr>
            <a:r>
              <a:rPr lang="fr-FR" dirty="0"/>
              <a:t>Les données collectées doivent être transmises vers un serveur.</a:t>
            </a:r>
          </a:p>
          <a:p>
            <a:pPr marL="0" indent="0">
              <a:buNone/>
            </a:pPr>
            <a:r>
              <a:rPr lang="fr-FR" dirty="0"/>
              <a:t>Technologies possibles :</a:t>
            </a:r>
          </a:p>
          <a:p>
            <a:r>
              <a:rPr lang="fr-FR" b="1" dirty="0"/>
              <a:t>GSM / 4G / 5G</a:t>
            </a:r>
            <a:r>
              <a:rPr lang="fr-FR" dirty="0"/>
              <a:t> </a:t>
            </a:r>
          </a:p>
          <a:p>
            <a:r>
              <a:rPr lang="fr-FR" b="1" dirty="0" err="1"/>
              <a:t>LoRaWAN</a:t>
            </a:r>
            <a:r>
              <a:rPr lang="fr-FR" dirty="0"/>
              <a:t> (faible consommation, longue distance) </a:t>
            </a:r>
          </a:p>
          <a:p>
            <a:r>
              <a:rPr lang="fr-FR" b="1" dirty="0"/>
              <a:t>Wi-Fi</a:t>
            </a:r>
            <a:r>
              <a:rPr lang="fr-FR" dirty="0"/>
              <a:t> (zones limitées) </a:t>
            </a:r>
          </a:p>
          <a:p>
            <a:pPr marL="0" indent="0">
              <a:buNone/>
            </a:pPr>
            <a:r>
              <a:rPr lang="fr-FR" dirty="0"/>
              <a:t>Rôle :  Assurer la </a:t>
            </a:r>
            <a:r>
              <a:rPr lang="fr-FR" b="1" dirty="0"/>
              <a:t>transmission des données en temps réel</a:t>
            </a:r>
            <a:r>
              <a:rPr lang="fr-FR" dirty="0"/>
              <a:t> depuis le terrain vers le système central.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048C6A0-4E10-4636-9C2F-E85855852616}"/>
              </a:ext>
            </a:extLst>
          </p:cNvPr>
          <p:cNvSpPr txBox="1">
            <a:spLocks/>
          </p:cNvSpPr>
          <p:nvPr/>
        </p:nvSpPr>
        <p:spPr>
          <a:xfrm>
            <a:off x="1524000" y="6287652"/>
            <a:ext cx="8442036" cy="325437"/>
          </a:xfrm>
          <a:prstGeom prst="rect">
            <a:avLst/>
          </a:prstGeom>
        </p:spPr>
        <p:txBody>
          <a:bodyPr vert="horz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</a:p>
        </p:txBody>
      </p:sp>
    </p:spTree>
    <p:extLst>
      <p:ext uri="{BB962C8B-B14F-4D97-AF65-F5344CB8AC3E}">
        <p14:creationId xmlns:p14="http://schemas.microsoft.com/office/powerpoint/2010/main" val="4033720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9F950-367C-42F0-AFFE-51212B594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1. Architecture Globale du Système</a:t>
            </a:r>
            <a:br>
              <a:rPr lang="fr-FR" dirty="0"/>
            </a:br>
            <a:r>
              <a:rPr lang="fr-FR" sz="2000" dirty="0">
                <a:solidFill>
                  <a:srgbClr val="C00000"/>
                </a:solidFill>
              </a:rPr>
              <a:t>1.  Vue d’ensemble du système</a:t>
            </a:r>
            <a:br>
              <a:rPr lang="fr-FR" dirty="0"/>
            </a:b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BCC7E-E7B5-4171-B8CE-09D7CF106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/>
              <a:t>C. Couche traitement (Serveur + IA)</a:t>
            </a:r>
          </a:p>
          <a:p>
            <a:pPr marL="0" indent="0">
              <a:buNone/>
            </a:pPr>
            <a:r>
              <a:rPr lang="fr-FR" dirty="0"/>
              <a:t>C’est le “cerveau” du système. Elle comprend :</a:t>
            </a:r>
          </a:p>
          <a:p>
            <a:r>
              <a:rPr lang="fr-FR" dirty="0"/>
              <a:t>un </a:t>
            </a:r>
            <a:r>
              <a:rPr lang="fr-FR" b="1" dirty="0"/>
              <a:t>serveur (cloud ou local)</a:t>
            </a:r>
            <a:r>
              <a:rPr lang="fr-FR" dirty="0"/>
              <a:t> </a:t>
            </a:r>
          </a:p>
          <a:p>
            <a:r>
              <a:rPr lang="fr-FR" dirty="0"/>
              <a:t>une </a:t>
            </a:r>
            <a:r>
              <a:rPr lang="fr-FR" b="1" dirty="0"/>
              <a:t>base de données</a:t>
            </a:r>
            <a:r>
              <a:rPr lang="fr-FR" dirty="0"/>
              <a:t> </a:t>
            </a:r>
          </a:p>
          <a:p>
            <a:r>
              <a:rPr lang="fr-FR" dirty="0"/>
              <a:t>les </a:t>
            </a:r>
            <a:r>
              <a:rPr lang="fr-FR" b="1" dirty="0"/>
              <a:t>algorithmes d’intelligence artificielle</a:t>
            </a:r>
            <a:r>
              <a:rPr lang="fr-FR" dirty="0"/>
              <a:t> </a:t>
            </a:r>
          </a:p>
          <a:p>
            <a:r>
              <a:rPr lang="fr-FR" dirty="0"/>
              <a:t>le </a:t>
            </a:r>
            <a:r>
              <a:rPr lang="fr-FR" b="1" dirty="0"/>
              <a:t>modèle de la jumelle digitale</a:t>
            </a:r>
            <a:r>
              <a:rPr lang="fr-FR" dirty="0"/>
              <a:t> </a:t>
            </a:r>
          </a:p>
          <a:p>
            <a:pPr marL="0" indent="0">
              <a:buNone/>
            </a:pPr>
            <a:r>
              <a:rPr lang="fr-FR" dirty="0"/>
              <a:t>Rôle : stocker les données, analyser les informations, simuler le réseau, détecter les anomalies, faire des prédictions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112CE9B-ED96-4588-AEBA-F120310F68C7}"/>
              </a:ext>
            </a:extLst>
          </p:cNvPr>
          <p:cNvSpPr txBox="1">
            <a:spLocks/>
          </p:cNvSpPr>
          <p:nvPr/>
        </p:nvSpPr>
        <p:spPr>
          <a:xfrm>
            <a:off x="1524000" y="6287652"/>
            <a:ext cx="8442036" cy="325437"/>
          </a:xfrm>
          <a:prstGeom prst="rect">
            <a:avLst/>
          </a:prstGeom>
        </p:spPr>
        <p:txBody>
          <a:bodyPr vert="horz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</a:p>
        </p:txBody>
      </p:sp>
    </p:spTree>
    <p:extLst>
      <p:ext uri="{BB962C8B-B14F-4D97-AF65-F5344CB8AC3E}">
        <p14:creationId xmlns:p14="http://schemas.microsoft.com/office/powerpoint/2010/main" val="2892483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CF769-D0A5-4FEB-B979-0996CC304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1. Architecture Globale du Système</a:t>
            </a:r>
            <a:br>
              <a:rPr lang="fr-FR" dirty="0"/>
            </a:br>
            <a:r>
              <a:rPr lang="fr-FR" sz="2000" dirty="0">
                <a:solidFill>
                  <a:srgbClr val="C00000"/>
                </a:solidFill>
              </a:rPr>
              <a:t>1.  Vue d’ensemble du système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5DAE6-F542-4C32-A0C1-0B5BA5C56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D. Couche application (Interface utilisateur)</a:t>
            </a:r>
          </a:p>
          <a:p>
            <a:pPr marL="0" indent="0">
              <a:buNone/>
            </a:pPr>
            <a:r>
              <a:rPr lang="fr-FR" dirty="0"/>
              <a:t>C’est la partie visible pour les utilisateurs (ingénieurs, techniciens). Elle peut être :</a:t>
            </a:r>
          </a:p>
          <a:p>
            <a:r>
              <a:rPr lang="fr-FR" dirty="0"/>
              <a:t>une </a:t>
            </a:r>
            <a:r>
              <a:rPr lang="fr-FR" b="1" dirty="0"/>
              <a:t>application web</a:t>
            </a:r>
            <a:r>
              <a:rPr lang="fr-FR" dirty="0"/>
              <a:t> </a:t>
            </a:r>
          </a:p>
          <a:p>
            <a:r>
              <a:rPr lang="fr-FR" dirty="0"/>
              <a:t>une </a:t>
            </a:r>
            <a:r>
              <a:rPr lang="fr-FR" b="1" dirty="0"/>
              <a:t>application mobile</a:t>
            </a:r>
            <a:r>
              <a:rPr lang="fr-FR" dirty="0"/>
              <a:t> </a:t>
            </a:r>
          </a:p>
          <a:p>
            <a:r>
              <a:rPr lang="fr-FR" dirty="0"/>
              <a:t>un </a:t>
            </a:r>
            <a:r>
              <a:rPr lang="fr-FR" b="1" dirty="0"/>
              <a:t>tableau de bord (</a:t>
            </a:r>
            <a:r>
              <a:rPr lang="fr-FR" b="1" dirty="0" err="1"/>
              <a:t>dashboard</a:t>
            </a:r>
            <a:r>
              <a:rPr lang="fr-FR" b="1" dirty="0"/>
              <a:t>)</a:t>
            </a:r>
            <a:r>
              <a:rPr lang="fr-FR" dirty="0"/>
              <a:t> </a:t>
            </a:r>
          </a:p>
          <a:p>
            <a:pPr marL="0" indent="0">
              <a:buNone/>
            </a:pPr>
            <a:r>
              <a:rPr lang="fr-FR" dirty="0"/>
              <a:t>Rôle : afficher l’état du réseau en temps réel, montrer les alertes (fuites, pannes), aider à la prise de décision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CD5A0CD-FA77-46BB-BA11-4B31F8C721B9}"/>
              </a:ext>
            </a:extLst>
          </p:cNvPr>
          <p:cNvSpPr txBox="1">
            <a:spLocks/>
          </p:cNvSpPr>
          <p:nvPr/>
        </p:nvSpPr>
        <p:spPr>
          <a:xfrm>
            <a:off x="1524000" y="6287652"/>
            <a:ext cx="8442036" cy="325437"/>
          </a:xfrm>
          <a:prstGeom prst="rect">
            <a:avLst/>
          </a:prstGeom>
        </p:spPr>
        <p:txBody>
          <a:bodyPr vert="horz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</a:p>
        </p:txBody>
      </p:sp>
    </p:spTree>
    <p:extLst>
      <p:ext uri="{BB962C8B-B14F-4D97-AF65-F5344CB8AC3E}">
        <p14:creationId xmlns:p14="http://schemas.microsoft.com/office/powerpoint/2010/main" val="2371219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A2270-FE16-4347-B53B-5504AD67E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1. Architecture Globale du Système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D9F51-E8ED-47E4-B2D3-65F279BD7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2. Schéma simplifié</a:t>
            </a:r>
          </a:p>
          <a:p>
            <a:pPr marL="0" indent="0">
              <a:buNone/>
            </a:pPr>
            <a:r>
              <a:rPr lang="fr-FR" dirty="0"/>
              <a:t>Capteurs → Réseau IoT → Serveur/IA → Jumelle Digitale → Interface Utilisateur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00D6145-E079-44C0-ACFF-A885F12E71FC}"/>
              </a:ext>
            </a:extLst>
          </p:cNvPr>
          <p:cNvSpPr txBox="1">
            <a:spLocks/>
          </p:cNvSpPr>
          <p:nvPr/>
        </p:nvSpPr>
        <p:spPr>
          <a:xfrm>
            <a:off x="1524000" y="6287652"/>
            <a:ext cx="8442036" cy="325437"/>
          </a:xfrm>
          <a:prstGeom prst="rect">
            <a:avLst/>
          </a:prstGeom>
        </p:spPr>
        <p:txBody>
          <a:bodyPr vert="horz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1DBC88-5D2C-4843-A81F-F83F1A5D4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829" y="3113555"/>
            <a:ext cx="5385481" cy="293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07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0C54E-3C13-46E8-8553-14CF6C15D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Architecture Globale du Système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EBD21-D373-4F63-9307-3E3E8209B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3. Fonctionnement global</a:t>
            </a:r>
          </a:p>
          <a:p>
            <a:r>
              <a:rPr lang="fr-FR" dirty="0"/>
              <a:t>Les capteurs collectent les données sur le terrain </a:t>
            </a:r>
          </a:p>
          <a:p>
            <a:r>
              <a:rPr lang="fr-FR" dirty="0"/>
              <a:t>Les données sont envoyées via Internet </a:t>
            </a:r>
          </a:p>
          <a:p>
            <a:r>
              <a:rPr lang="fr-FR" dirty="0"/>
              <a:t>Le serveur analyse ces données avec l’IA </a:t>
            </a:r>
          </a:p>
          <a:p>
            <a:r>
              <a:rPr lang="fr-FR" dirty="0"/>
              <a:t>La jumelle digitale simule le réseau </a:t>
            </a:r>
          </a:p>
          <a:p>
            <a:r>
              <a:rPr lang="fr-FR" dirty="0"/>
              <a:t>Les résultats sont affichés aux utilisateurs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DA77024-7E91-4E43-9785-359C3C115213}"/>
              </a:ext>
            </a:extLst>
          </p:cNvPr>
          <p:cNvSpPr txBox="1">
            <a:spLocks/>
          </p:cNvSpPr>
          <p:nvPr/>
        </p:nvSpPr>
        <p:spPr>
          <a:xfrm>
            <a:off x="1524000" y="6287652"/>
            <a:ext cx="8442036" cy="325437"/>
          </a:xfrm>
          <a:prstGeom prst="rect">
            <a:avLst/>
          </a:prstGeom>
        </p:spPr>
        <p:txBody>
          <a:bodyPr vert="horz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</a:p>
        </p:txBody>
      </p:sp>
    </p:spTree>
    <p:extLst>
      <p:ext uri="{BB962C8B-B14F-4D97-AF65-F5344CB8AC3E}">
        <p14:creationId xmlns:p14="http://schemas.microsoft.com/office/powerpoint/2010/main" val="1432287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EDC0E-B9A1-49FB-BBE6-A5BDCBC72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 Les algorithmes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848E0-D86F-45A2-A164-FE14B5A87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2165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AutoNum type="arabicPeriod"/>
            </a:pPr>
            <a:r>
              <a:rPr lang="fr-FR" dirty="0"/>
              <a:t>Algorithmes de détection d’anomalies</a:t>
            </a:r>
          </a:p>
          <a:p>
            <a:pPr marL="457200" indent="-457200">
              <a:buAutoNum type="arabicPeriod"/>
            </a:pPr>
            <a:r>
              <a:rPr lang="fr-FR" dirty="0"/>
              <a:t>Algorithmes de prédiction (Machine Learning)</a:t>
            </a:r>
          </a:p>
          <a:p>
            <a:pPr marL="457200" indent="-457200">
              <a:buAutoNum type="arabicPeriod"/>
            </a:pPr>
            <a:r>
              <a:rPr lang="fr-FR" dirty="0"/>
              <a:t>Algorithmes d’optimisation</a:t>
            </a:r>
          </a:p>
          <a:p>
            <a:pPr marL="457200" indent="-457200">
              <a:buAutoNum type="arabicPeriod"/>
            </a:pPr>
            <a:r>
              <a:rPr lang="fr-FR" dirty="0"/>
              <a:t>Algorithmes de simulation hydraulique</a:t>
            </a:r>
          </a:p>
          <a:p>
            <a:pPr marL="457200" indent="-457200">
              <a:buAutoNum type="arabicPeriod"/>
            </a:pPr>
            <a:r>
              <a:rPr lang="fr-FR" dirty="0"/>
              <a:t>Algorithmes de classification</a:t>
            </a:r>
          </a:p>
          <a:p>
            <a:pPr marL="457200" indent="-457200">
              <a:buAutoNum type="arabicPeriod"/>
            </a:pPr>
            <a:r>
              <a:rPr lang="fr-FR" dirty="0"/>
              <a:t>Algorithmes de prise de décision</a:t>
            </a:r>
          </a:p>
          <a:p>
            <a:pPr marL="0" indent="0">
              <a:buNone/>
            </a:pPr>
            <a:r>
              <a:rPr lang="fr-FR" dirty="0"/>
              <a:t>Les algorithmes sont le </a:t>
            </a:r>
            <a:r>
              <a:rPr lang="fr-FR" b="1" dirty="0"/>
              <a:t>cœur intelligent du système</a:t>
            </a:r>
            <a:r>
              <a:rPr lang="fr-FR" dirty="0"/>
              <a:t>. Ils permettent de transformer les données en </a:t>
            </a:r>
            <a:r>
              <a:rPr lang="fr-FR" b="1" dirty="0"/>
              <a:t>informations utiles, prédictions et décisions</a:t>
            </a:r>
            <a:r>
              <a:rPr lang="fr-FR" dirty="0"/>
              <a:t>, rendant la gestion du réseau d’eau potable plus </a:t>
            </a:r>
            <a:r>
              <a:rPr lang="fr-FR" b="1" dirty="0"/>
              <a:t>efficace, rapide et intelligente</a:t>
            </a:r>
            <a:r>
              <a:rPr lang="fr-FR" dirty="0"/>
              <a:t>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3D327DD-8F50-4BA4-8D99-EDADE606329E}"/>
              </a:ext>
            </a:extLst>
          </p:cNvPr>
          <p:cNvSpPr txBox="1">
            <a:spLocks/>
          </p:cNvSpPr>
          <p:nvPr/>
        </p:nvSpPr>
        <p:spPr>
          <a:xfrm>
            <a:off x="1524000" y="6287652"/>
            <a:ext cx="8442036" cy="325437"/>
          </a:xfrm>
          <a:prstGeom prst="rect">
            <a:avLst/>
          </a:prstGeom>
        </p:spPr>
        <p:txBody>
          <a:bodyPr vert="horz" lIns="91440" tIns="91440" rIns="91440" bIns="9144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chemeClr val="bg1"/>
                </a:solidFill>
              </a:rPr>
              <a:t>LANDRY MULUMEODERHWA &amp; LINDA LUKENGERWA</a:t>
            </a:r>
          </a:p>
        </p:txBody>
      </p:sp>
    </p:spTree>
    <p:extLst>
      <p:ext uri="{BB962C8B-B14F-4D97-AF65-F5344CB8AC3E}">
        <p14:creationId xmlns:p14="http://schemas.microsoft.com/office/powerpoint/2010/main" val="25398524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185</TotalTime>
  <Words>591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PROJET TUTORE BAC 3</vt:lpstr>
      <vt:lpstr>1. Architecture Globale du Système</vt:lpstr>
      <vt:lpstr>1. Architecture Globale du Système</vt:lpstr>
      <vt:lpstr>1. Architecture Globale du Système 1.  Vue d’ensemble du système </vt:lpstr>
      <vt:lpstr>1. Architecture Globale du Système 1.  Vue d’ensemble du système </vt:lpstr>
      <vt:lpstr>1. Architecture Globale du Système 1.  Vue d’ensemble du système </vt:lpstr>
      <vt:lpstr>1. Architecture Globale du Système 1.  Vue d’ensemble du système</vt:lpstr>
      <vt:lpstr>1. Architecture Globale du Système</vt:lpstr>
      <vt:lpstr>1. Architecture Globale du Système</vt:lpstr>
      <vt:lpstr>2.  Les algorithmes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TUTORE BAC 3</dc:title>
  <dc:creator>Landry Mushagalusa</dc:creator>
  <cp:lastModifiedBy>Landry Mushagalusa</cp:lastModifiedBy>
  <cp:revision>108</cp:revision>
  <dcterms:created xsi:type="dcterms:W3CDTF">2026-03-17T09:16:10Z</dcterms:created>
  <dcterms:modified xsi:type="dcterms:W3CDTF">2026-05-18T15:26:58Z</dcterms:modified>
</cp:coreProperties>
</file>